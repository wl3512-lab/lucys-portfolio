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Default xmlns="" Extension="fntdata" ContentType="application/x-fontdata"/>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embedTrueType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9144000" cy="5143500"/>
  <p:notesSz cx="5143500" cy="9144000"/>
  <p:embeddedFontLst>
    <p:embeddedFont>
      <p:font typeface="Inter"/>
      <p:regular r:id="rId31"/>
    </p:embeddedFont>
    <p:embeddedFont>
      <p:font typeface="Spline Sans"/>
      <p:regular r:id="rId3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xmlns="" Id="rId31" Type="http://schemas.openxmlformats.org/officeDocument/2006/relationships/font" Target="fonts/rId31.fntdata"/><Relationship xmlns="" Id="rId32" Type="http://schemas.openxmlformats.org/officeDocument/2006/relationships/font" Target="fonts/rId3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the biggest challenges of the whole project was getting the Arduino and p5.js to actually talk to each other in a clean, stable way.
At first, the serial data was a mess. Sometimes the Arduino printed the FSR values too fast, or printed extra text, or didn’t print anything at all. Because of that, p5.js kept receiving broken strings or merged numbers. I’d get huge unreadable values like ‘3252991283’ instead of one pressure reading. And when p5 gets invalid data, it immediately breaks the visuals and turns everything into NaN.
On top of that, the browser wouldn’t always show the port, or it would open once and then completely freeze. The older WebSerial libraries I tried either crashed, didn’t buffer the data correctly, or threw errors like ‘Cannot access before initialization.’ So even if the Arduino was sending data, the browser wouldn’t actually deliver it to the sketch.
Those two issues together meant the canvas wouldn’t draw, the audio wouldn’t start, and the whole interaction felt dead.
What finally solved everything was going back to the basics on the Arduino side — printing only one clean value per line — and then rebuilding the entire serial layer in p5.js with P5SerialLite. It gave me a proper Connect button, clean callbacks, and a buffered line reader so the FSR data never breaks or merges. Once the connection stabilized, everything else — the visuals, the movement, the audio — started working instantly. That was the moment the project finally came alive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CITATIONS:
Creative computing week 2, 3, 11, 12 slideshows.
Yuliya and Dan'O for coding help, debugging and connected my fsr and p5js when it wasnt working. Andre for fabrication help answering questions i had and picking a prototype out of the ones I couldn't chose. Along with Daniel Shiffman, we debugged this code and used chatgpt. I used used it to rewrite the code for p5js, along with test this code
I used the potentiometer template and made ai combine the two templates they provided me as the link chatgpt gave me in HTML file was not compatible with my computer.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hyperlink" Target="https://editor.p5js.org/lucyliu0822/full/vnO1xECIP" TargetMode="External"/><Relationship Id="rId1"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image" Target="../media/image-2-6.png"/><Relationship Id="rId8" Type="http://schemas.openxmlformats.org/officeDocument/2006/relationships/slideLayout" Target="../slideLayouts/slideLayout1.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4" Type="http://schemas.openxmlformats.org/officeDocument/2006/relationships/hyperlink" Target="https://editor.p5js.org/lucyliu0822/full/vnO1xECIP" TargetMode="External"/><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hyperlink" Target="https://editor.p5js.org/lucyliu0822/full/s10s9Q6CE" TargetMode="External"/><Relationship Id="rId1" Type="http://schemas.openxmlformats.org/officeDocument/2006/relationships/image" Target="../media/image-4-1.png"/><Relationship Id="rId2" Type="http://schemas.openxmlformats.org/officeDocument/2006/relationships/image" Target="../media/image-4-2.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hyperlink" Target="https://miro.com/app/board/uXjVJqbhEkU=/" TargetMode="External"/><Relationship Id="rId1" Type="http://schemas.openxmlformats.org/officeDocument/2006/relationships/image" Target="../media/image-12-1.png"/><Relationship Id="rId3" Type="http://schemas.openxmlformats.org/officeDocument/2006/relationships/image" Target="../media/image-12-2.png"/><Relationship Id="rId4" Type="http://schemas.openxmlformats.org/officeDocument/2006/relationships/image" Target="../media/image-12-3.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hyperlink" Target="https://drive.google.com/file/d/1F-Uutz-pkw0SyDZ5Pj28N8NdKSRLiPnL/view?usp=sharing" TargetMode="External"/><Relationship Id="rId1" Type="http://schemas.openxmlformats.org/officeDocument/2006/relationships/image" Target="../media/image-20-1.png"/><Relationship Id="rId2" Type="http://schemas.openxmlformats.org/officeDocument/2006/relationships/image" Target="../media/image-20-2.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image" Target="../media/image-24-7.png"/><Relationship Id="rId8" Type="http://schemas.openxmlformats.org/officeDocument/2006/relationships/image" Target="../media/image-24-8.png"/><Relationship Id="rId9" Type="http://schemas.openxmlformats.org/officeDocument/2006/relationships/slideLayout" Target="../slideLayouts/slideLayout1.xml"/><Relationship Id="rId10"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4323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76200"/>
            <a:ext cx="9144000" cy="5143500"/>
          </a:xfrm>
          <a:prstGeom prst="rect">
            <a:avLst/>
          </a:prstGeom>
        </p:spPr>
      </p:pic>
      <p:pic>
        <p:nvPicPr>
          <p:cNvPr id="3" name="Image 1" descr="preencoded.png">    </p:cNvPr>
          <p:cNvPicPr>
            <a:picLocks noChangeAspect="1"/>
          </p:cNvPicPr>
          <p:nvPr/>
        </p:nvPicPr>
        <p:blipFill>
          <a:blip r:embed="rId2"/>
          <a:srcRect l="0" r="0" t="0" b="0"/>
          <a:stretch/>
        </p:blipFill>
        <p:spPr>
          <a:xfrm>
            <a:off x="0" y="4838700"/>
            <a:ext cx="9144000" cy="304800"/>
          </a:xfrm>
          <a:prstGeom prst="rect">
            <a:avLst/>
          </a:prstGeom>
        </p:spPr>
      </p:pic>
      <p:sp>
        <p:nvSpPr>
          <p:cNvPr id="4" name="Text 0"/>
          <p:cNvSpPr/>
          <p:nvPr/>
        </p:nvSpPr>
        <p:spPr>
          <a:xfrm>
            <a:off x="628650" y="628650"/>
            <a:ext cx="2852738" cy="1047750"/>
          </a:xfrm>
          <a:prstGeom prst="rect">
            <a:avLst/>
          </a:prstGeom>
          <a:noFill/>
          <a:ln/>
        </p:spPr>
        <p:txBody>
          <a:bodyPr wrap="square" lIns="0" tIns="0" rIns="0" bIns="0" rtlCol="0" anchor="t"/>
          <a:lstStyle/>
          <a:p>
            <a:pPr algn="l" indent="0" marL="0">
              <a:lnSpc>
                <a:spcPts val="7838"/>
              </a:lnSpc>
              <a:buNone/>
            </a:pPr>
            <a:r>
              <a:rPr lang="en-US" sz="7125" spc="-427" kern="0" dirty="0">
                <a:solidFill>
                  <a:srgbClr val="000000"/>
                </a:solidFill>
                <a:latin typeface="Inter" pitchFamily="34" charset="0"/>
                <a:ea typeface="Inter" pitchFamily="34" charset="-122"/>
                <a:cs typeface="Inter" pitchFamily="34" charset="-120"/>
              </a:rPr>
              <a:t>Trance</a:t>
            </a:r>
            <a:endParaRPr lang="en-US" sz="7125" dirty="0"/>
          </a:p>
        </p:txBody>
      </p:sp>
      <p:sp>
        <p:nvSpPr>
          <p:cNvPr id="5" name="Text 1"/>
          <p:cNvSpPr/>
          <p:nvPr/>
        </p:nvSpPr>
        <p:spPr>
          <a:xfrm>
            <a:off x="6086475" y="3686175"/>
            <a:ext cx="2905125" cy="523875"/>
          </a:xfrm>
          <a:prstGeom prst="rect">
            <a:avLst/>
          </a:prstGeom>
          <a:noFill/>
          <a:ln/>
        </p:spPr>
        <p:txBody>
          <a:bodyPr wrap="square" lIns="0" tIns="0" rIns="0" bIns="0" rtlCol="0" anchor="b"/>
          <a:lstStyle/>
          <a:p>
            <a:pPr algn="ctr" indent="0" marL="0">
              <a:lnSpc>
                <a:spcPts val="3919"/>
              </a:lnSpc>
              <a:buNone/>
            </a:pPr>
            <a:r>
              <a:rPr lang="en-US" sz="3563" spc="-178" kern="0" dirty="0">
                <a:solidFill>
                  <a:srgbClr val="FFFFFF">
                    <a:alpha val="99000"/>
                  </a:srgbClr>
                </a:solidFill>
                <a:latin typeface="Inter" pitchFamily="34" charset="0"/>
                <a:ea typeface="Inter" pitchFamily="34" charset="-122"/>
                <a:cs typeface="Inter" pitchFamily="34" charset="-120"/>
              </a:rPr>
              <a:t>An Installation</a:t>
            </a:r>
            <a:endParaRPr lang="en-US" sz="3563"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28650" y="1671638"/>
            <a:ext cx="3481388" cy="1166813"/>
          </a:xfrm>
          <a:prstGeom prst="rect">
            <a:avLst/>
          </a:prstGeom>
          <a:noFill/>
          <a:ln/>
        </p:spPr>
      </p:sp>
      <p:sp>
        <p:nvSpPr>
          <p:cNvPr id="3" name="Shape 1"/>
          <p:cNvSpPr/>
          <p:nvPr/>
        </p:nvSpPr>
        <p:spPr>
          <a:xfrm>
            <a:off x="628650" y="1671638"/>
            <a:ext cx="3076575" cy="1166813"/>
          </a:xfrm>
          <a:prstGeom prst="rect">
            <a:avLst/>
          </a:prstGeom>
          <a:noFill/>
          <a:ln/>
        </p:spPr>
      </p:sp>
      <p:sp>
        <p:nvSpPr>
          <p:cNvPr id="4" name="Text 2"/>
          <p:cNvSpPr/>
          <p:nvPr/>
        </p:nvSpPr>
        <p:spPr>
          <a:xfrm>
            <a:off x="628650" y="1671638"/>
            <a:ext cx="3076575" cy="1166813"/>
          </a:xfrm>
          <a:prstGeom prst="rect">
            <a:avLst/>
          </a:prstGeom>
          <a:noFill/>
          <a:ln/>
        </p:spPr>
        <p:txBody>
          <a:bodyPr wrap="square" lIns="0" tIns="0" rIns="0" bIns="0" rtlCol="0" anchor="ctr"/>
          <a:lstStyle/>
          <a:p>
            <a:pPr algn="l" marL="342900" indent="-342900">
              <a:lnSpc>
                <a:spcPts val="1744"/>
              </a:lnSpc>
              <a:buSzPct val="100000"/>
              <a:buChar char="•"/>
            </a:pPr>
            <a:r>
              <a:rPr lang="en-US" sz="1283" spc="-38" kern="0" dirty="0">
                <a:solidFill>
                  <a:srgbClr val="000000">
                    <a:alpha val="99000"/>
                  </a:srgbClr>
                </a:solidFill>
                <a:latin typeface="Inter" pitchFamily="34" charset="0"/>
                <a:ea typeface="Inter" pitchFamily="34" charset="-122"/>
                <a:cs typeface="Inter" pitchFamily="34" charset="-120"/>
              </a:rPr>
              <a:t>Interactive audio‑visual installation</a:t>
            </a:r>
            <a:endParaRPr lang="en-US" sz="1283" dirty="0"/>
          </a:p>
          <a:p>
            <a:pPr algn="l" marL="342900" indent="-342900">
              <a:lnSpc>
                <a:spcPts val="1744"/>
              </a:lnSpc>
              <a:buSzPct val="100000"/>
              <a:buChar char="•"/>
            </a:pPr>
            <a:r>
              <a:rPr lang="en-US" sz="1283" spc="-38" kern="0" dirty="0">
                <a:solidFill>
                  <a:srgbClr val="000000">
                    <a:alpha val="99000"/>
                  </a:srgbClr>
                </a:solidFill>
                <a:latin typeface="Inter" pitchFamily="34" charset="0"/>
                <a:ea typeface="Inter" pitchFamily="34" charset="-122"/>
                <a:cs typeface="Inter" pitchFamily="34" charset="-120"/>
              </a:rPr>
              <a:t>Clear acrylic hand plate with lights and pressure sensor</a:t>
            </a:r>
            <a:endParaRPr lang="en-US" sz="1283" dirty="0"/>
          </a:p>
          <a:p>
            <a:pPr algn="l" marL="342900" indent="-342900">
              <a:lnSpc>
                <a:spcPts val="1744"/>
              </a:lnSpc>
              <a:buSzPct val="100000"/>
              <a:buChar char="•"/>
            </a:pPr>
            <a:r>
              <a:rPr lang="en-US" sz="1283" spc="-38" kern="0" dirty="0">
                <a:solidFill>
                  <a:srgbClr val="000000">
                    <a:alpha val="99000"/>
                  </a:srgbClr>
                </a:solidFill>
                <a:latin typeface="Inter" pitchFamily="34" charset="0"/>
                <a:ea typeface="Inter" pitchFamily="34" charset="-122"/>
                <a:cs typeface="Inter" pitchFamily="34" charset="-120"/>
              </a:rPr>
              <a:t>Your touch controls what you see and hear</a:t>
            </a:r>
            <a:endParaRPr lang="en-US" sz="1283" dirty="0"/>
          </a:p>
        </p:txBody>
      </p:sp>
      <p:pic>
        <p:nvPicPr>
          <p:cNvPr id="5" name="Image 0" descr="preencoded.png">    </p:cNvPr>
          <p:cNvPicPr>
            <a:picLocks noChangeAspect="1"/>
          </p:cNvPicPr>
          <p:nvPr/>
        </p:nvPicPr>
        <p:blipFill>
          <a:blip r:embed="rId1"/>
          <a:srcRect l="0" r="0" t="0" b="0"/>
          <a:stretch/>
        </p:blipFill>
        <p:spPr>
          <a:xfrm>
            <a:off x="0" y="4838700"/>
            <a:ext cx="9144000" cy="304800"/>
          </a:xfrm>
          <a:prstGeom prst="rect">
            <a:avLst/>
          </a:prstGeom>
        </p:spPr>
      </p:pic>
      <p:sp>
        <p:nvSpPr>
          <p:cNvPr id="6" name="Text 3"/>
          <p:cNvSpPr/>
          <p:nvPr/>
        </p:nvSpPr>
        <p:spPr>
          <a:xfrm>
            <a:off x="628650" y="628650"/>
            <a:ext cx="4819650" cy="180975"/>
          </a:xfrm>
          <a:prstGeom prst="rect">
            <a:avLst/>
          </a:prstGeom>
          <a:noFill/>
          <a:ln/>
        </p:spPr>
        <p:txBody>
          <a:bodyPr wrap="square" lIns="0" tIns="0" rIns="0" bIns="0" rtlCol="0" anchor="t"/>
          <a:lstStyle/>
          <a:p>
            <a:pPr algn="l" indent="0" marL="0">
              <a:lnSpc>
                <a:spcPts val="1368"/>
              </a:lnSpc>
              <a:buNone/>
            </a:pPr>
            <a:r>
              <a:rPr lang="en-US" sz="1140" spc="-34" kern="0" dirty="0">
                <a:solidFill>
                  <a:srgbClr val="000000">
                    <a:alpha val="99000"/>
                  </a:srgbClr>
                </a:solidFill>
                <a:latin typeface="Inter" pitchFamily="34" charset="0"/>
                <a:ea typeface="Inter" pitchFamily="34" charset="-122"/>
                <a:cs typeface="Inter" pitchFamily="34" charset="-120"/>
              </a:rPr>
              <a:t>Intro</a:t>
            </a:r>
            <a:endParaRPr lang="en-US" sz="1140" dirty="0"/>
          </a:p>
        </p:txBody>
      </p:sp>
      <p:sp>
        <p:nvSpPr>
          <p:cNvPr id="7" name="Text 4"/>
          <p:cNvSpPr/>
          <p:nvPr/>
        </p:nvSpPr>
        <p:spPr>
          <a:xfrm>
            <a:off x="628650" y="981075"/>
            <a:ext cx="4819650" cy="276225"/>
          </a:xfrm>
          <a:prstGeom prst="rect">
            <a:avLst/>
          </a:prstGeom>
          <a:noFill/>
          <a:ln/>
        </p:spPr>
        <p:txBody>
          <a:bodyPr wrap="square" lIns="0" tIns="0" rIns="0" bIns="0" rtlCol="0" anchor="t"/>
          <a:lstStyle/>
          <a:p>
            <a:pPr algn="l" indent="0" marL="0">
              <a:lnSpc>
                <a:spcPts val="2052"/>
              </a:lnSpc>
              <a:buNone/>
            </a:pPr>
            <a:r>
              <a:rPr lang="en-US" sz="1710" spc="-51" kern="0" dirty="0">
                <a:solidFill>
                  <a:srgbClr val="000000">
                    <a:alpha val="99000"/>
                  </a:srgbClr>
                </a:solidFill>
                <a:latin typeface="Inter" pitchFamily="34" charset="0"/>
                <a:ea typeface="Inter" pitchFamily="34" charset="-122"/>
                <a:cs typeface="Inter" pitchFamily="34" charset="-120"/>
              </a:rPr>
              <a:t>What is it?</a:t>
            </a:r>
            <a:endParaRPr lang="en-US" sz="1710" dirty="0"/>
          </a:p>
        </p:txBody>
      </p:sp>
      <p:sp>
        <p:nvSpPr>
          <p:cNvPr id="8" name="Text 5"/>
          <p:cNvSpPr/>
          <p:nvPr/>
        </p:nvSpPr>
        <p:spPr>
          <a:xfrm>
            <a:off x="304800" y="4638675"/>
            <a:ext cx="885825" cy="200025"/>
          </a:xfrm>
          <a:prstGeom prst="rect">
            <a:avLst/>
          </a:prstGeom>
          <a:noFill/>
          <a:ln/>
        </p:spPr>
        <p:txBody>
          <a:bodyPr wrap="square" lIns="0" tIns="0" rIns="0" bIns="0" rtlCol="0" anchor="ctr"/>
          <a:lstStyle/>
          <a:p>
            <a:pPr algn="l" indent="0" marL="0">
              <a:lnSpc>
                <a:spcPts val="1482"/>
              </a:lnSpc>
              <a:buNone/>
            </a:pPr>
            <a:r>
              <a:rPr lang="en-US" sz="1140" u="sng" spc="-34" kern="0" dirty="0">
                <a:solidFill>
                  <a:srgbClr val="000000">
                    <a:alpha val="99000"/>
                  </a:srgbClr>
                </a:solidFill>
                <a:latin typeface="Inter" pitchFamily="34" charset="0"/>
                <a:ea typeface="Inter" pitchFamily="34" charset="-122"/>
                <a:cs typeface="Inter" pitchFamily="34" charset="-120"/>
                <a:hlinkClick r:id="rId2" invalidUrl="" action="" tgtFrame="" tooltip="" history="1" highlightClick="0" endSnd="0">
                  <a:extLst>
                    <a:ext uri="{A12FA001-AC4F-418D-AE19-62706E023703}">
                      <ahyp:hlinkClr xmlns:ahyp="http://schemas.microsoft.com/office/drawing/2018/hyperlinkcolor" val="tx"/>
                    </a:ext>
                  </a:extLst>
                </a:hlinkClick>
              </a:rPr>
              <a:t>p5js</a:t>
            </a:r>
            <a:pPr algn="l" indent="0" marL="0">
              <a:lnSpc>
                <a:spcPts val="1482"/>
              </a:lnSpc>
              <a:buNone/>
            </a:pPr>
            <a:r>
              <a:rPr lang="en-US" sz="1140" spc="-34" kern="0" dirty="0">
                <a:solidFill>
                  <a:srgbClr val="000000">
                    <a:alpha val="99000"/>
                  </a:srgbClr>
                </a:solidFill>
                <a:latin typeface="Inter" pitchFamily="34" charset="0"/>
                <a:ea typeface="Inter" pitchFamily="34" charset="-122"/>
                <a:cs typeface="Inter" pitchFamily="34" charset="-120"/>
              </a:rPr>
              <a:t> mockup</a:t>
            </a:r>
            <a:endParaRPr lang="en-US" sz="1140" dirty="0"/>
          </a:p>
        </p:txBody>
      </p:sp>
      <p:pic>
        <p:nvPicPr>
          <p:cNvPr id="9" name="Image 1" descr="preencoded.png">    </p:cNvPr>
          <p:cNvPicPr>
            <a:picLocks noChangeAspect="1"/>
          </p:cNvPicPr>
          <p:nvPr/>
        </p:nvPicPr>
        <p:blipFill>
          <a:blip r:embed="rId3"/>
          <a:srcRect l="0" r="0" t="0" b="0"/>
          <a:stretch/>
        </p:blipFill>
        <p:spPr>
          <a:xfrm>
            <a:off x="5224463" y="1200150"/>
            <a:ext cx="2890838" cy="1647825"/>
          </a:xfrm>
          <a:prstGeom prst="rect">
            <a:avLst/>
          </a:prstGeom>
        </p:spPr>
      </p:pic>
      <p:pic>
        <p:nvPicPr>
          <p:cNvPr id="10" name="Image 2" descr="preencoded.png">    </p:cNvPr>
          <p:cNvPicPr>
            <a:picLocks noChangeAspect="1"/>
          </p:cNvPicPr>
          <p:nvPr/>
        </p:nvPicPr>
        <p:blipFill>
          <a:blip r:embed="rId4"/>
          <a:srcRect l="0" r="0" t="0" b="0"/>
          <a:stretch/>
        </p:blipFill>
        <p:spPr>
          <a:xfrm>
            <a:off x="2181225" y="3495675"/>
            <a:ext cx="690563" cy="690563"/>
          </a:xfrm>
          <a:prstGeom prst="rect">
            <a:avLst/>
          </a:prstGeom>
        </p:spPr>
      </p:pic>
      <p:pic>
        <p:nvPicPr>
          <p:cNvPr id="11" name="Image 3" descr="preencoded.png">    </p:cNvPr>
          <p:cNvPicPr>
            <a:picLocks noChangeAspect="1"/>
          </p:cNvPicPr>
          <p:nvPr/>
        </p:nvPicPr>
        <p:blipFill>
          <a:blip r:embed="rId5"/>
          <a:srcRect l="0" r="0" t="0" b="0"/>
          <a:stretch/>
        </p:blipFill>
        <p:spPr>
          <a:xfrm>
            <a:off x="3790950" y="3614738"/>
            <a:ext cx="990600" cy="457200"/>
          </a:xfrm>
          <a:prstGeom prst="rect">
            <a:avLst/>
          </a:prstGeom>
        </p:spPr>
      </p:pic>
      <p:pic>
        <p:nvPicPr>
          <p:cNvPr id="12" name="Image 4" descr="preencoded.png">    </p:cNvPr>
          <p:cNvPicPr>
            <a:picLocks noChangeAspect="1"/>
          </p:cNvPicPr>
          <p:nvPr/>
        </p:nvPicPr>
        <p:blipFill>
          <a:blip r:embed="rId6"/>
          <a:srcRect l="0" r="0" t="0" b="0"/>
          <a:stretch/>
        </p:blipFill>
        <p:spPr>
          <a:xfrm>
            <a:off x="2947988" y="3495675"/>
            <a:ext cx="690563" cy="690563"/>
          </a:xfrm>
          <a:prstGeom prst="rect">
            <a:avLst/>
          </a:prstGeom>
        </p:spPr>
      </p:pic>
      <p:pic>
        <p:nvPicPr>
          <p:cNvPr id="13" name="Image 5" descr="preencoded.png">    </p:cNvPr>
          <p:cNvPicPr>
            <a:picLocks noChangeAspect="1"/>
          </p:cNvPicPr>
          <p:nvPr/>
        </p:nvPicPr>
        <p:blipFill>
          <a:blip r:embed="rId7"/>
          <a:srcRect l="0" r="0" t="0" b="0"/>
          <a:stretch/>
        </p:blipFill>
        <p:spPr>
          <a:xfrm>
            <a:off x="4910138" y="3552825"/>
            <a:ext cx="842963" cy="57626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4838700"/>
            <a:ext cx="9144000" cy="304800"/>
          </a:xfrm>
          <a:prstGeom prst="rect">
            <a:avLst/>
          </a:prstGeom>
        </p:spPr>
      </p:pic>
      <p:sp>
        <p:nvSpPr>
          <p:cNvPr id="3" name="Shape 0"/>
          <p:cNvSpPr/>
          <p:nvPr/>
        </p:nvSpPr>
        <p:spPr>
          <a:xfrm>
            <a:off x="628650" y="590550"/>
            <a:ext cx="4819650" cy="1257300"/>
          </a:xfrm>
          <a:prstGeom prst="rect">
            <a:avLst/>
          </a:prstGeom>
          <a:noFill/>
          <a:ln/>
        </p:spPr>
      </p:sp>
      <p:sp>
        <p:nvSpPr>
          <p:cNvPr id="4" name="Text 1"/>
          <p:cNvSpPr/>
          <p:nvPr/>
        </p:nvSpPr>
        <p:spPr>
          <a:xfrm>
            <a:off x="628650" y="590550"/>
            <a:ext cx="4819650" cy="180975"/>
          </a:xfrm>
          <a:prstGeom prst="rect">
            <a:avLst/>
          </a:prstGeom>
          <a:noFill/>
          <a:ln/>
        </p:spPr>
        <p:txBody>
          <a:bodyPr wrap="square" lIns="0" tIns="0" rIns="0" bIns="0" rtlCol="0" anchor="ctr"/>
          <a:lstStyle/>
          <a:p>
            <a:pPr algn="l" indent="0" marL="0">
              <a:lnSpc>
                <a:spcPts val="1368"/>
              </a:lnSpc>
              <a:buNone/>
            </a:pPr>
            <a:r>
              <a:rPr lang="en-US" sz="1140" spc="-34" kern="0" dirty="0">
                <a:solidFill>
                  <a:srgbClr val="000000">
                    <a:alpha val="99000"/>
                  </a:srgbClr>
                </a:solidFill>
                <a:latin typeface="Inter" pitchFamily="34" charset="0"/>
                <a:ea typeface="Inter" pitchFamily="34" charset="-122"/>
                <a:cs typeface="Inter" pitchFamily="34" charset="-120"/>
              </a:rPr>
              <a:t>How is it hypercinema?</a:t>
            </a:r>
            <a:endParaRPr lang="en-US" sz="1140" dirty="0"/>
          </a:p>
        </p:txBody>
      </p:sp>
      <p:sp>
        <p:nvSpPr>
          <p:cNvPr id="5" name="Text 2"/>
          <p:cNvSpPr/>
          <p:nvPr/>
        </p:nvSpPr>
        <p:spPr>
          <a:xfrm>
            <a:off x="628650" y="942975"/>
            <a:ext cx="4819650" cy="904875"/>
          </a:xfrm>
          <a:prstGeom prst="rect">
            <a:avLst/>
          </a:prstGeom>
          <a:noFill/>
          <a:ln/>
        </p:spPr>
        <p:txBody>
          <a:bodyPr wrap="square" lIns="0" tIns="0" rIns="0" bIns="0" rtlCol="0" anchor="ctr"/>
          <a:lstStyle/>
          <a:p>
            <a:pPr algn="l" indent="0" marL="0">
              <a:lnSpc>
                <a:spcPts val="1368"/>
              </a:lnSpc>
              <a:buNone/>
            </a:pPr>
            <a:r>
              <a:rPr lang="en-US" sz="1140" spc="-34" kern="0" dirty="0">
                <a:solidFill>
                  <a:srgbClr val="000000">
                    <a:alpha val="99000"/>
                  </a:srgbClr>
                </a:solidFill>
                <a:latin typeface="Inter" pitchFamily="34" charset="0"/>
                <a:ea typeface="Inter" pitchFamily="34" charset="-122"/>
                <a:cs typeface="Inter" pitchFamily="34" charset="-120"/>
              </a:rPr>
              <a:t>This project is hyper cinema because time and structure come from the audience, not from a fixed timeline. There is a clear beginning with a short video, a middle where your pressure shapes everything, and an end when you let go and the system slowly comes down. The narrative arc is defined by how long you stay and how you interact</a:t>
            </a:r>
            <a:endParaRPr lang="en-US" sz="1140" dirty="0"/>
          </a:p>
        </p:txBody>
      </p:sp>
      <p:sp>
        <p:nvSpPr>
          <p:cNvPr id="6" name="Text 3"/>
          <p:cNvSpPr/>
          <p:nvPr/>
        </p:nvSpPr>
        <p:spPr>
          <a:xfrm>
            <a:off x="538163" y="2243138"/>
            <a:ext cx="3381375" cy="723900"/>
          </a:xfrm>
          <a:prstGeom prst="rect">
            <a:avLst/>
          </a:prstGeom>
          <a:noFill/>
          <a:ln/>
        </p:spPr>
        <p:txBody>
          <a:bodyPr wrap="square" lIns="0" tIns="0" rIns="0" bIns="0" rtlCol="0" anchor="ctr"/>
          <a:lstStyle/>
          <a:p>
            <a:pPr algn="l" marL="342900" indent="-342900">
              <a:lnSpc>
                <a:spcPts val="1368"/>
              </a:lnSpc>
              <a:buSzPct val="100000"/>
              <a:buChar char="•"/>
            </a:pPr>
            <a:r>
              <a:rPr lang="en-US" sz="1140" spc="-34" kern="0" dirty="0">
                <a:solidFill>
                  <a:srgbClr val="000000">
                    <a:alpha val="99000"/>
                  </a:srgbClr>
                </a:solidFill>
                <a:latin typeface="Inter" pitchFamily="34" charset="0"/>
                <a:ea typeface="Inter" pitchFamily="34" charset="-122"/>
                <a:cs typeface="Inter" pitchFamily="34" charset="-120"/>
              </a:rPr>
              <a:t>Time comes from your presence and actions</a:t>
            </a:r>
            <a:endParaRPr lang="en-US" sz="1140" dirty="0"/>
          </a:p>
          <a:p>
            <a:pPr algn="l" marL="342900" indent="-342900">
              <a:lnSpc>
                <a:spcPts val="1368"/>
              </a:lnSpc>
              <a:buSzPct val="100000"/>
              <a:buChar char="•"/>
            </a:pPr>
            <a:r>
              <a:rPr lang="en-US" sz="1140" spc="-34" kern="0" dirty="0">
                <a:solidFill>
                  <a:srgbClr val="000000">
                    <a:alpha val="99000"/>
                  </a:srgbClr>
                </a:solidFill>
                <a:latin typeface="Inter" pitchFamily="34" charset="0"/>
                <a:ea typeface="Inter" pitchFamily="34" charset="-122"/>
                <a:cs typeface="Inter" pitchFamily="34" charset="-120"/>
              </a:rPr>
              <a:t>Beginning: intro video</a:t>
            </a:r>
            <a:endParaRPr lang="en-US" sz="1140" dirty="0"/>
          </a:p>
          <a:p>
            <a:pPr algn="l" marL="342900" indent="-342900">
              <a:lnSpc>
                <a:spcPts val="1368"/>
              </a:lnSpc>
              <a:buSzPct val="100000"/>
              <a:buChar char="•"/>
            </a:pPr>
            <a:r>
              <a:rPr lang="en-US" sz="1140" spc="-34" kern="0" dirty="0">
                <a:solidFill>
                  <a:srgbClr val="000000">
                    <a:alpha val="99000"/>
                  </a:srgbClr>
                </a:solidFill>
                <a:latin typeface="Inter" pitchFamily="34" charset="0"/>
                <a:ea typeface="Inter" pitchFamily="34" charset="-122"/>
                <a:cs typeface="Inter" pitchFamily="34" charset="-120"/>
              </a:rPr>
              <a:t>Middle: your pressure drives the experience</a:t>
            </a:r>
            <a:endParaRPr lang="en-US" sz="1140" dirty="0"/>
          </a:p>
          <a:p>
            <a:pPr algn="l" marL="342900" indent="-342900">
              <a:lnSpc>
                <a:spcPts val="1368"/>
              </a:lnSpc>
              <a:buSzPct val="100000"/>
              <a:buChar char="•"/>
            </a:pPr>
            <a:r>
              <a:rPr lang="en-US" sz="1140" spc="-34" kern="0" dirty="0">
                <a:solidFill>
                  <a:srgbClr val="000000">
                    <a:alpha val="99000"/>
                  </a:srgbClr>
                </a:solidFill>
                <a:latin typeface="Inter" pitchFamily="34" charset="0"/>
                <a:ea typeface="Inter" pitchFamily="34" charset="-122"/>
                <a:cs typeface="Inter" pitchFamily="34" charset="-120"/>
              </a:rPr>
              <a:t>End: release, fade, and return to calm</a:t>
            </a:r>
            <a:endParaRPr lang="en-US" sz="1140" dirty="0"/>
          </a:p>
        </p:txBody>
      </p:sp>
      <p:pic>
        <p:nvPicPr>
          <p:cNvPr id="7" name="Image 1" descr="preencoded.png">    </p:cNvPr>
          <p:cNvPicPr>
            <a:picLocks noChangeAspect="1"/>
          </p:cNvPicPr>
          <p:nvPr/>
        </p:nvPicPr>
        <p:blipFill>
          <a:blip r:embed="rId2"/>
          <a:srcRect l="0" r="0" t="0" b="0"/>
          <a:stretch/>
        </p:blipFill>
        <p:spPr>
          <a:xfrm>
            <a:off x="5738813" y="590550"/>
            <a:ext cx="2967038" cy="3957638"/>
          </a:xfrm>
          <a:prstGeom prst="rect">
            <a:avLst/>
          </a:prstGeom>
        </p:spPr>
      </p:pic>
      <p:sp>
        <p:nvSpPr>
          <p:cNvPr id="8" name="Text 4"/>
          <p:cNvSpPr/>
          <p:nvPr/>
        </p:nvSpPr>
        <p:spPr>
          <a:xfrm>
            <a:off x="4572000" y="3671888"/>
            <a:ext cx="1433513" cy="200025"/>
          </a:xfrm>
          <a:prstGeom prst="rect">
            <a:avLst/>
          </a:prstGeom>
          <a:noFill/>
          <a:ln/>
        </p:spPr>
        <p:txBody>
          <a:bodyPr wrap="square" lIns="0" tIns="0" rIns="0" bIns="0" rtlCol="0" anchor="t"/>
          <a:lstStyle/>
          <a:p>
            <a:pPr algn="l" indent="0" marL="0">
              <a:lnSpc>
                <a:spcPts val="1482"/>
              </a:lnSpc>
              <a:buNone/>
            </a:pPr>
            <a:r>
              <a:rPr lang="en-US" sz="1140" spc="-34" kern="0" dirty="0">
                <a:solidFill>
                  <a:srgbClr val="000000">
                    <a:alpha val="99000"/>
                  </a:srgbClr>
                </a:solidFill>
                <a:latin typeface="Inter" pitchFamily="34" charset="0"/>
                <a:ea typeface="Inter" pitchFamily="34" charset="-122"/>
                <a:cs typeface="Inter" pitchFamily="34" charset="-120"/>
              </a:rPr>
              <a:t>fsr</a:t>
            </a:r>
            <a:endParaRPr lang="en-US" sz="1140" dirty="0"/>
          </a:p>
        </p:txBody>
      </p:sp>
      <p:pic>
        <p:nvPicPr>
          <p:cNvPr id="9" name="Image 2" descr="preencoded.png">    </p:cNvPr>
          <p:cNvPicPr>
            <a:picLocks noChangeAspect="1"/>
          </p:cNvPicPr>
          <p:nvPr/>
        </p:nvPicPr>
        <p:blipFill>
          <a:blip r:embed="rId3"/>
          <a:srcRect l="0" r="0" t="0" b="0"/>
          <a:stretch/>
        </p:blipFill>
        <p:spPr>
          <a:xfrm>
            <a:off x="4838700" y="2833688"/>
            <a:ext cx="2679383" cy="896467"/>
          </a:xfrm>
          <a:prstGeom prst="rect">
            <a:avLst/>
          </a:prstGeom>
        </p:spPr>
      </p:pic>
      <p:sp>
        <p:nvSpPr>
          <p:cNvPr id="10" name="Text 5"/>
          <p:cNvSpPr/>
          <p:nvPr/>
        </p:nvSpPr>
        <p:spPr>
          <a:xfrm>
            <a:off x="304800" y="4638675"/>
            <a:ext cx="295275" cy="200025"/>
          </a:xfrm>
          <a:prstGeom prst="rect">
            <a:avLst/>
          </a:prstGeom>
          <a:noFill/>
          <a:ln/>
        </p:spPr>
        <p:txBody>
          <a:bodyPr wrap="square" lIns="0" tIns="0" rIns="0" bIns="0" rtlCol="0" anchor="ctr"/>
          <a:lstStyle/>
          <a:p>
            <a:pPr algn="l" indent="0" marL="0">
              <a:lnSpc>
                <a:spcPts val="1482"/>
              </a:lnSpc>
              <a:buNone/>
            </a:pPr>
            <a:r>
              <a:rPr lang="en-US" sz="1140" u="sng" spc="-34" kern="0" dirty="0">
                <a:solidFill>
                  <a:srgbClr val="000000">
                    <a:alpha val="99000"/>
                  </a:srgbClr>
                </a:solidFill>
                <a:latin typeface="Inter" pitchFamily="34" charset="0"/>
                <a:ea typeface="Inter" pitchFamily="34" charset="-122"/>
                <a:cs typeface="Inter" pitchFamily="34" charset="-120"/>
                <a:hlinkClick r:id="rId4" invalidUrl="" action="" tgtFrame="" tooltip="" history="1" highlightClick="0" endSnd="0">
                  <a:extLst>
                    <a:ext uri="{A12FA001-AC4F-418D-AE19-62706E023703}">
                      <ahyp:hlinkClr xmlns:ahyp="http://schemas.microsoft.com/office/drawing/2018/hyperlinkcolor" val="tx"/>
                    </a:ext>
                  </a:extLst>
                </a:hlinkClick>
              </a:rPr>
              <a:t>p5js</a:t>
            </a:r>
            <a:endParaRPr lang="en-US" sz="114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28650" y="1671638"/>
            <a:ext cx="3481388" cy="1166813"/>
          </a:xfrm>
          <a:prstGeom prst="rect">
            <a:avLst/>
          </a:prstGeom>
          <a:noFill/>
          <a:ln/>
        </p:spPr>
      </p:sp>
      <p:sp>
        <p:nvSpPr>
          <p:cNvPr id="3" name="Shape 1"/>
          <p:cNvSpPr/>
          <p:nvPr/>
        </p:nvSpPr>
        <p:spPr>
          <a:xfrm>
            <a:off x="628650" y="1671638"/>
            <a:ext cx="3076575" cy="1166813"/>
          </a:xfrm>
          <a:prstGeom prst="rect">
            <a:avLst/>
          </a:prstGeom>
          <a:noFill/>
          <a:ln/>
        </p:spPr>
      </p:sp>
      <p:sp>
        <p:nvSpPr>
          <p:cNvPr id="4" name="Text 2"/>
          <p:cNvSpPr/>
          <p:nvPr/>
        </p:nvSpPr>
        <p:spPr>
          <a:xfrm>
            <a:off x="628650" y="1671638"/>
            <a:ext cx="3076575" cy="1166813"/>
          </a:xfrm>
          <a:prstGeom prst="rect">
            <a:avLst/>
          </a:prstGeom>
          <a:noFill/>
          <a:ln/>
        </p:spPr>
        <p:txBody>
          <a:bodyPr wrap="square" lIns="0" tIns="0" rIns="0" bIns="0" rtlCol="0" anchor="ctr"/>
          <a:lstStyle/>
          <a:p>
            <a:pPr algn="l" marL="342900" indent="-342900">
              <a:lnSpc>
                <a:spcPts val="1744"/>
              </a:lnSpc>
              <a:buSzPct val="100000"/>
              <a:buChar char="•"/>
            </a:pPr>
            <a:r>
              <a:rPr lang="en-US" sz="1283" spc="-38" kern="0" dirty="0">
                <a:solidFill>
                  <a:srgbClr val="000000">
                    <a:alpha val="99000"/>
                  </a:srgbClr>
                </a:solidFill>
                <a:latin typeface="Inter" pitchFamily="34" charset="0"/>
                <a:ea typeface="Inter" pitchFamily="34" charset="-122"/>
                <a:cs typeface="Inter" pitchFamily="34" charset="-120"/>
              </a:rPr>
              <a:t>Music trance: the beat pulls you in</a:t>
            </a:r>
            <a:endParaRPr lang="en-US" sz="1283" dirty="0"/>
          </a:p>
          <a:p>
            <a:pPr algn="l" marL="342900" indent="-342900">
              <a:lnSpc>
                <a:spcPts val="1744"/>
              </a:lnSpc>
              <a:buSzPct val="100000"/>
              <a:buChar char="•"/>
            </a:pPr>
            <a:r>
              <a:rPr lang="en-US" sz="1283" spc="-38" kern="0" dirty="0">
                <a:solidFill>
                  <a:srgbClr val="000000">
                    <a:alpha val="99000"/>
                  </a:srgbClr>
                </a:solidFill>
                <a:latin typeface="Inter" pitchFamily="34" charset="0"/>
                <a:ea typeface="Inter" pitchFamily="34" charset="-122"/>
                <a:cs typeface="Inter" pitchFamily="34" charset="-120"/>
              </a:rPr>
              <a:t>Focus trance: you get locked into the interaction</a:t>
            </a:r>
            <a:endParaRPr lang="en-US" sz="1283" dirty="0"/>
          </a:p>
          <a:p>
            <a:pPr algn="l" marL="342900" indent="-342900">
              <a:lnSpc>
                <a:spcPts val="1744"/>
              </a:lnSpc>
              <a:buSzPct val="100000"/>
              <a:buChar char="•"/>
            </a:pPr>
            <a:r>
              <a:rPr lang="en-US" sz="1283" spc="-38" kern="0" dirty="0">
                <a:solidFill>
                  <a:srgbClr val="000000">
                    <a:alpha val="99000"/>
                  </a:srgbClr>
                </a:solidFill>
                <a:latin typeface="Inter" pitchFamily="34" charset="0"/>
                <a:ea typeface="Inter" pitchFamily="34" charset="-122"/>
                <a:cs typeface="Inter" pitchFamily="34" charset="-120"/>
              </a:rPr>
              <a:t>Visual trance: hypnotic light and patterns</a:t>
            </a:r>
            <a:endParaRPr lang="en-US" sz="1283" dirty="0"/>
          </a:p>
        </p:txBody>
      </p:sp>
      <p:pic>
        <p:nvPicPr>
          <p:cNvPr id="5" name="Image 0" descr="preencoded.png">    </p:cNvPr>
          <p:cNvPicPr>
            <a:picLocks noChangeAspect="1"/>
          </p:cNvPicPr>
          <p:nvPr/>
        </p:nvPicPr>
        <p:blipFill>
          <a:blip r:embed="rId1"/>
          <a:srcRect l="0" r="0" t="0" b="0"/>
          <a:stretch/>
        </p:blipFill>
        <p:spPr>
          <a:xfrm>
            <a:off x="0" y="4838700"/>
            <a:ext cx="9144000" cy="304800"/>
          </a:xfrm>
          <a:prstGeom prst="rect">
            <a:avLst/>
          </a:prstGeom>
        </p:spPr>
      </p:pic>
      <p:sp>
        <p:nvSpPr>
          <p:cNvPr id="6" name="Text 3"/>
          <p:cNvSpPr/>
          <p:nvPr/>
        </p:nvSpPr>
        <p:spPr>
          <a:xfrm>
            <a:off x="628650" y="628650"/>
            <a:ext cx="4819650" cy="180975"/>
          </a:xfrm>
          <a:prstGeom prst="rect">
            <a:avLst/>
          </a:prstGeom>
          <a:noFill/>
          <a:ln/>
        </p:spPr>
        <p:txBody>
          <a:bodyPr wrap="square" lIns="0" tIns="0" rIns="0" bIns="0" rtlCol="0" anchor="t"/>
          <a:lstStyle/>
          <a:p>
            <a:pPr algn="l" indent="0" marL="0">
              <a:lnSpc>
                <a:spcPts val="1368"/>
              </a:lnSpc>
              <a:buNone/>
            </a:pPr>
            <a:r>
              <a:rPr lang="en-US" sz="1140" spc="-34" kern="0" dirty="0">
                <a:solidFill>
                  <a:srgbClr val="000000">
                    <a:alpha val="99000"/>
                  </a:srgbClr>
                </a:solidFill>
                <a:latin typeface="Inter" pitchFamily="34" charset="0"/>
                <a:ea typeface="Inter" pitchFamily="34" charset="-122"/>
                <a:cs typeface="Inter" pitchFamily="34" charset="-120"/>
              </a:rPr>
              <a:t>Intro</a:t>
            </a:r>
            <a:endParaRPr lang="en-US" sz="1140" dirty="0"/>
          </a:p>
        </p:txBody>
      </p:sp>
      <p:sp>
        <p:nvSpPr>
          <p:cNvPr id="7" name="Text 4"/>
          <p:cNvSpPr/>
          <p:nvPr/>
        </p:nvSpPr>
        <p:spPr>
          <a:xfrm>
            <a:off x="628650" y="981075"/>
            <a:ext cx="4819650" cy="276225"/>
          </a:xfrm>
          <a:prstGeom prst="rect">
            <a:avLst/>
          </a:prstGeom>
          <a:noFill/>
          <a:ln/>
        </p:spPr>
        <p:txBody>
          <a:bodyPr wrap="square" lIns="0" tIns="0" rIns="0" bIns="0" rtlCol="0" anchor="t"/>
          <a:lstStyle/>
          <a:p>
            <a:pPr algn="l" indent="0" marL="0">
              <a:lnSpc>
                <a:spcPts val="2052"/>
              </a:lnSpc>
              <a:buNone/>
            </a:pPr>
            <a:r>
              <a:rPr lang="en-US" sz="1710" spc="-51" kern="0" dirty="0">
                <a:solidFill>
                  <a:srgbClr val="000000">
                    <a:alpha val="99000"/>
                  </a:srgbClr>
                </a:solidFill>
                <a:latin typeface="Inter" pitchFamily="34" charset="0"/>
                <a:ea typeface="Inter" pitchFamily="34" charset="-122"/>
                <a:cs typeface="Inter" pitchFamily="34" charset="-120"/>
              </a:rPr>
              <a:t>Why trance?</a:t>
            </a:r>
            <a:endParaRPr lang="en-US" sz="1710" dirty="0"/>
          </a:p>
        </p:txBody>
      </p:sp>
      <p:sp>
        <p:nvSpPr>
          <p:cNvPr id="8" name="Text 5"/>
          <p:cNvSpPr/>
          <p:nvPr/>
        </p:nvSpPr>
        <p:spPr>
          <a:xfrm>
            <a:off x="6819900" y="3948112"/>
            <a:ext cx="2171700" cy="700088"/>
          </a:xfrm>
          <a:prstGeom prst="rect">
            <a:avLst/>
          </a:prstGeom>
          <a:noFill/>
          <a:ln/>
        </p:spPr>
        <p:txBody>
          <a:bodyPr wrap="square" lIns="0" tIns="0" rIns="0" bIns="0" rtlCol="0" anchor="t"/>
          <a:lstStyle/>
          <a:p>
            <a:pPr algn="l" indent="0" marL="0">
              <a:lnSpc>
                <a:spcPts val="1744"/>
              </a:lnSpc>
              <a:buNone/>
            </a:pPr>
            <a:r>
              <a:rPr lang="en-US" sz="1283" spc="-38" kern="0" dirty="0">
                <a:solidFill>
                  <a:srgbClr val="8BAFAC">
                    <a:alpha val="99000"/>
                  </a:srgbClr>
                </a:solidFill>
                <a:latin typeface="Inter" pitchFamily="34" charset="0"/>
                <a:ea typeface="Inter" pitchFamily="34" charset="-122"/>
                <a:cs typeface="Inter" pitchFamily="34" charset="-120"/>
              </a:rPr>
              <a:t>It’s about the feeling of getting lost in music and losing track of time.</a:t>
            </a:r>
            <a:endParaRPr lang="en-US" sz="1283" dirty="0"/>
          </a:p>
        </p:txBody>
      </p:sp>
      <p:pic>
        <p:nvPicPr>
          <p:cNvPr id="9" name="Image 1" descr="preencoded.png">    </p:cNvPr>
          <p:cNvPicPr>
            <a:picLocks noChangeAspect="1"/>
          </p:cNvPicPr>
          <p:nvPr/>
        </p:nvPicPr>
        <p:blipFill>
          <a:blip r:embed="rId2"/>
          <a:srcRect l="0" r="0" t="0" b="0"/>
          <a:stretch/>
        </p:blipFill>
        <p:spPr>
          <a:xfrm>
            <a:off x="5662613" y="628650"/>
            <a:ext cx="2533650" cy="3095625"/>
          </a:xfrm>
          <a:prstGeom prst="rect">
            <a:avLst/>
          </a:prstGeom>
        </p:spPr>
      </p:pic>
      <p:sp>
        <p:nvSpPr>
          <p:cNvPr id="10" name="Text 6"/>
          <p:cNvSpPr/>
          <p:nvPr/>
        </p:nvSpPr>
        <p:spPr>
          <a:xfrm>
            <a:off x="304800" y="4548188"/>
            <a:ext cx="1095375" cy="200025"/>
          </a:xfrm>
          <a:prstGeom prst="rect">
            <a:avLst/>
          </a:prstGeom>
          <a:noFill/>
          <a:ln/>
        </p:spPr>
        <p:txBody>
          <a:bodyPr wrap="square" lIns="0" tIns="0" rIns="0" bIns="0" rtlCol="0" anchor="t"/>
          <a:lstStyle/>
          <a:p>
            <a:pPr algn="l" indent="0" marL="0">
              <a:lnSpc>
                <a:spcPts val="1482"/>
              </a:lnSpc>
              <a:buNone/>
            </a:pPr>
            <a:r>
              <a:rPr lang="en-US" sz="1140" u="sng" spc="-34" kern="0" dirty="0">
                <a:solidFill>
                  <a:srgbClr val="000000">
                    <a:alpha val="99000"/>
                  </a:srgbClr>
                </a:solidFill>
                <a:latin typeface="Inter" pitchFamily="34" charset="0"/>
                <a:ea typeface="Inter" pitchFamily="34" charset="-122"/>
                <a:cs typeface="Inter" pitchFamily="34" charset="-120"/>
                <a:hlinkClick r:id="rId3" invalidUrl="" action="" tgtFrame="" tooltip="" history="1" highlightClick="0" endSnd="0">
                  <a:extLst>
                    <a:ext uri="{A12FA001-AC4F-418D-AE19-62706E023703}">
                      <ahyp:hlinkClr xmlns:ahyp="http://schemas.microsoft.com/office/drawing/2018/hyperlinkcolor" val="tx"/>
                    </a:ext>
                  </a:extLst>
                </a:hlinkClick>
              </a:rPr>
              <a:t>link</a:t>
            </a:r>
            <a:endParaRPr lang="en-US" sz="114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33850" y="438150"/>
            <a:ext cx="4138613" cy="552450"/>
          </a:xfrm>
          <a:prstGeom prst="rect">
            <a:avLst/>
          </a:prstGeom>
          <a:noFill/>
          <a:ln/>
        </p:spPr>
        <p:txBody>
          <a:bodyPr wrap="square" lIns="0" tIns="0" rIns="0" bIns="0" rtlCol="0" anchor="t"/>
          <a:lstStyle/>
          <a:p>
            <a:pPr algn="l" indent="0" marL="0">
              <a:lnSpc>
                <a:spcPts val="2052"/>
              </a:lnSpc>
              <a:buNone/>
            </a:pPr>
            <a:r>
              <a:rPr lang="en-US" sz="1710" spc="-51" kern="0" dirty="0">
                <a:solidFill>
                  <a:srgbClr val="000000">
                    <a:alpha val="99000"/>
                  </a:srgbClr>
                </a:solidFill>
                <a:latin typeface="Inter" pitchFamily="34" charset="0"/>
                <a:ea typeface="Inter" pitchFamily="34" charset="-122"/>
                <a:cs typeface="Inter" pitchFamily="34" charset="-120"/>
              </a:rPr>
              <a:t>Concept: From Surface to Transformation</a:t>
            </a:r>
            <a:endParaRPr lang="en-US" sz="1710" dirty="0"/>
          </a:p>
        </p:txBody>
      </p:sp>
      <p:sp>
        <p:nvSpPr>
          <p:cNvPr id="3" name="Text 1"/>
          <p:cNvSpPr/>
          <p:nvPr/>
        </p:nvSpPr>
        <p:spPr>
          <a:xfrm>
            <a:off x="4171950" y="2014538"/>
            <a:ext cx="4029075" cy="1200150"/>
          </a:xfrm>
          <a:prstGeom prst="rect">
            <a:avLst/>
          </a:prstGeom>
          <a:noFill/>
          <a:ln/>
        </p:spPr>
        <p:txBody>
          <a:bodyPr wrap="square" lIns="0" tIns="0" rIns="0" bIns="0" rtlCol="0" anchor="t"/>
          <a:lstStyle/>
          <a:p>
            <a:pPr algn="l" indent="0" marL="0">
              <a:lnSpc>
                <a:spcPts val="1482"/>
              </a:lnSpc>
              <a:buNone/>
            </a:pPr>
            <a:r>
              <a:rPr lang="en-US" sz="1140" spc="-34" kern="0" dirty="0">
                <a:solidFill>
                  <a:srgbClr val="000000">
                    <a:alpha val="99000"/>
                  </a:srgbClr>
                </a:solidFill>
                <a:latin typeface="Inter" pitchFamily="34" charset="0"/>
                <a:ea typeface="Inter" pitchFamily="34" charset="-122"/>
                <a:cs typeface="Inter" pitchFamily="34" charset="-120"/>
              </a:rPr>
              <a:t>The concept moves from surface to transformation. The intro video uses ‘Diamonds Dancing. The interactive part shifts into ‘São Paulo’ by The Weeknd, a track that represents a turning point and a feeling of rebirth. The installation follows that same path, from what is shown on the surface to what is felt inside.</a:t>
            </a:r>
            <a:endParaRPr lang="en-US" sz="1140" dirty="0"/>
          </a:p>
        </p:txBody>
      </p:sp>
      <p:pic>
        <p:nvPicPr>
          <p:cNvPr id="4" name="Image 0" descr="preencoded.png">    </p:cNvPr>
          <p:cNvPicPr>
            <a:picLocks noChangeAspect="1"/>
          </p:cNvPicPr>
          <p:nvPr/>
        </p:nvPicPr>
        <p:blipFill>
          <a:blip r:embed="rId1"/>
          <a:srcRect l="0" r="0" t="0" b="0"/>
          <a:stretch/>
        </p:blipFill>
        <p:spPr>
          <a:xfrm>
            <a:off x="438150" y="2562225"/>
            <a:ext cx="3128963" cy="1957388"/>
          </a:xfrm>
          <a:prstGeom prst="rect">
            <a:avLst/>
          </a:prstGeom>
        </p:spPr>
      </p:pic>
      <p:pic>
        <p:nvPicPr>
          <p:cNvPr id="5" name="Image 1" descr="preencoded.png">    </p:cNvPr>
          <p:cNvPicPr>
            <a:picLocks noChangeAspect="1"/>
          </p:cNvPicPr>
          <p:nvPr/>
        </p:nvPicPr>
        <p:blipFill>
          <a:blip r:embed="rId2"/>
          <a:srcRect l="0" r="0" t="0" b="0"/>
          <a:stretch/>
        </p:blipFill>
        <p:spPr>
          <a:xfrm>
            <a:off x="438150" y="438150"/>
            <a:ext cx="3128963" cy="1933575"/>
          </a:xfrm>
          <a:prstGeom prst="rect">
            <a:avLst/>
          </a:prstGeom>
        </p:spPr>
      </p:pic>
      <p:pic>
        <p:nvPicPr>
          <p:cNvPr id="6" name="Image 2" descr="preencoded.png">    </p:cNvPr>
          <p:cNvPicPr>
            <a:picLocks noChangeAspect="1"/>
          </p:cNvPicPr>
          <p:nvPr/>
        </p:nvPicPr>
        <p:blipFill>
          <a:blip r:embed="rId3"/>
          <a:srcRect l="0" r="0" t="0" b="0"/>
          <a:stretch/>
        </p:blipFill>
        <p:spPr>
          <a:xfrm>
            <a:off x="0" y="4838700"/>
            <a:ext cx="9144000" cy="3048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28650" y="1671638"/>
            <a:ext cx="3481388" cy="1400175"/>
          </a:xfrm>
          <a:prstGeom prst="rect">
            <a:avLst/>
          </a:prstGeom>
          <a:noFill/>
          <a:ln/>
        </p:spPr>
      </p:sp>
      <p:sp>
        <p:nvSpPr>
          <p:cNvPr id="3" name="Shape 1"/>
          <p:cNvSpPr/>
          <p:nvPr/>
        </p:nvSpPr>
        <p:spPr>
          <a:xfrm>
            <a:off x="628650" y="1671638"/>
            <a:ext cx="3076575" cy="1400175"/>
          </a:xfrm>
          <a:prstGeom prst="rect">
            <a:avLst/>
          </a:prstGeom>
          <a:noFill/>
          <a:ln/>
        </p:spPr>
      </p:sp>
      <p:sp>
        <p:nvSpPr>
          <p:cNvPr id="4" name="Text 2"/>
          <p:cNvSpPr/>
          <p:nvPr/>
        </p:nvSpPr>
        <p:spPr>
          <a:xfrm>
            <a:off x="628650" y="1671638"/>
            <a:ext cx="3076575" cy="1400175"/>
          </a:xfrm>
          <a:prstGeom prst="rect">
            <a:avLst/>
          </a:prstGeom>
          <a:noFill/>
          <a:ln/>
        </p:spPr>
        <p:txBody>
          <a:bodyPr wrap="square" lIns="0" tIns="0" rIns="0" bIns="0" rtlCol="0" anchor="ctr"/>
          <a:lstStyle/>
          <a:p>
            <a:pPr algn="l" marL="342900" indent="-342900">
              <a:lnSpc>
                <a:spcPts val="1744"/>
              </a:lnSpc>
              <a:buSzPct val="100000"/>
              <a:buChar char="•"/>
            </a:pPr>
            <a:r>
              <a:rPr lang="en-US" sz="1283" spc="-38" kern="0" dirty="0">
                <a:solidFill>
                  <a:srgbClr val="000000">
                    <a:alpha val="99000"/>
                  </a:srgbClr>
                </a:solidFill>
                <a:latin typeface="Inter" pitchFamily="34" charset="0"/>
                <a:ea typeface="Inter" pitchFamily="34" charset="-122"/>
                <a:cs typeface="Inter" pitchFamily="34" charset="-120"/>
              </a:rPr>
              <a:t>Music as something you feel, not just hear</a:t>
            </a:r>
            <a:endParaRPr lang="en-US" sz="1283" dirty="0"/>
          </a:p>
          <a:p>
            <a:pPr algn="l" marL="342900" indent="-342900">
              <a:lnSpc>
                <a:spcPts val="1744"/>
              </a:lnSpc>
              <a:buSzPct val="100000"/>
              <a:buChar char="•"/>
            </a:pPr>
            <a:r>
              <a:rPr lang="en-US" sz="1283" spc="-38" kern="0" dirty="0">
                <a:solidFill>
                  <a:srgbClr val="000000">
                    <a:alpha val="99000"/>
                  </a:srgbClr>
                </a:solidFill>
                <a:latin typeface="Inter" pitchFamily="34" charset="0"/>
                <a:ea typeface="Inter" pitchFamily="34" charset="-122"/>
                <a:cs typeface="Inter" pitchFamily="34" charset="-120"/>
              </a:rPr>
              <a:t>Your body and touch shape the experience</a:t>
            </a:r>
            <a:endParaRPr lang="en-US" sz="1283" dirty="0"/>
          </a:p>
          <a:p>
            <a:pPr algn="l" marL="342900" indent="-342900">
              <a:lnSpc>
                <a:spcPts val="1744"/>
              </a:lnSpc>
              <a:buSzPct val="100000"/>
              <a:buChar char="•"/>
            </a:pPr>
            <a:r>
              <a:rPr lang="en-US" sz="1283" spc="-38" kern="0" dirty="0">
                <a:solidFill>
                  <a:srgbClr val="000000">
                    <a:alpha val="99000"/>
                  </a:srgbClr>
                </a:solidFill>
                <a:latin typeface="Inter" pitchFamily="34" charset="0"/>
                <a:ea typeface="Inter" pitchFamily="34" charset="-122"/>
                <a:cs typeface="Inter" pitchFamily="34" charset="-120"/>
              </a:rPr>
              <a:t>You are not just a viewer; you are a participant</a:t>
            </a:r>
            <a:endParaRPr lang="en-US" sz="1283" dirty="0"/>
          </a:p>
        </p:txBody>
      </p:sp>
      <p:pic>
        <p:nvPicPr>
          <p:cNvPr id="5" name="Image 0" descr="preencoded.png">    </p:cNvPr>
          <p:cNvPicPr>
            <a:picLocks noChangeAspect="1"/>
          </p:cNvPicPr>
          <p:nvPr/>
        </p:nvPicPr>
        <p:blipFill>
          <a:blip r:embed="rId1"/>
          <a:srcRect l="0" r="0" t="0" b="0"/>
          <a:stretch/>
        </p:blipFill>
        <p:spPr>
          <a:xfrm>
            <a:off x="0" y="4838700"/>
            <a:ext cx="9144000" cy="304800"/>
          </a:xfrm>
          <a:prstGeom prst="rect">
            <a:avLst/>
          </a:prstGeom>
        </p:spPr>
      </p:pic>
      <p:sp>
        <p:nvSpPr>
          <p:cNvPr id="6" name="Text 3"/>
          <p:cNvSpPr/>
          <p:nvPr/>
        </p:nvSpPr>
        <p:spPr>
          <a:xfrm>
            <a:off x="628650" y="628650"/>
            <a:ext cx="4819650" cy="180975"/>
          </a:xfrm>
          <a:prstGeom prst="rect">
            <a:avLst/>
          </a:prstGeom>
          <a:noFill/>
          <a:ln/>
        </p:spPr>
        <p:txBody>
          <a:bodyPr wrap="square" lIns="0" tIns="0" rIns="0" bIns="0" rtlCol="0" anchor="t"/>
          <a:lstStyle/>
          <a:p>
            <a:pPr algn="l" indent="0" marL="0">
              <a:lnSpc>
                <a:spcPts val="1368"/>
              </a:lnSpc>
              <a:buNone/>
            </a:pPr>
            <a:r>
              <a:rPr lang="en-US" sz="1140" spc="-34" kern="0" dirty="0">
                <a:solidFill>
                  <a:srgbClr val="000000">
                    <a:alpha val="99000"/>
                  </a:srgbClr>
                </a:solidFill>
                <a:latin typeface="Inter" pitchFamily="34" charset="0"/>
                <a:ea typeface="Inter" pitchFamily="34" charset="-122"/>
                <a:cs typeface="Inter" pitchFamily="34" charset="-120"/>
              </a:rPr>
              <a:t>Concept</a:t>
            </a:r>
            <a:endParaRPr lang="en-US" sz="1140" dirty="0"/>
          </a:p>
        </p:txBody>
      </p:sp>
      <p:sp>
        <p:nvSpPr>
          <p:cNvPr id="7" name="Text 4"/>
          <p:cNvSpPr/>
          <p:nvPr/>
        </p:nvSpPr>
        <p:spPr>
          <a:xfrm>
            <a:off x="628650" y="981075"/>
            <a:ext cx="4819650" cy="276225"/>
          </a:xfrm>
          <a:prstGeom prst="rect">
            <a:avLst/>
          </a:prstGeom>
          <a:noFill/>
          <a:ln/>
        </p:spPr>
        <p:txBody>
          <a:bodyPr wrap="square" lIns="0" tIns="0" rIns="0" bIns="0" rtlCol="0" anchor="t"/>
          <a:lstStyle/>
          <a:p>
            <a:pPr algn="l" indent="0" marL="0">
              <a:lnSpc>
                <a:spcPts val="2052"/>
              </a:lnSpc>
              <a:buNone/>
            </a:pPr>
            <a:r>
              <a:rPr lang="en-US" sz="1710" spc="-51" kern="0" dirty="0">
                <a:solidFill>
                  <a:srgbClr val="000000">
                    <a:alpha val="99000"/>
                  </a:srgbClr>
                </a:solidFill>
                <a:latin typeface="Inter" pitchFamily="34" charset="0"/>
                <a:ea typeface="Inter" pitchFamily="34" charset="-122"/>
                <a:cs typeface="Inter" pitchFamily="34" charset="-120"/>
              </a:rPr>
              <a:t> What I Want the Audience to Feel</a:t>
            </a:r>
            <a:endParaRPr lang="en-US" sz="1710" dirty="0"/>
          </a:p>
        </p:txBody>
      </p:sp>
      <p:sp>
        <p:nvSpPr>
          <p:cNvPr id="8" name="Text 5"/>
          <p:cNvSpPr/>
          <p:nvPr/>
        </p:nvSpPr>
        <p:spPr>
          <a:xfrm>
            <a:off x="5448300" y="3338513"/>
            <a:ext cx="2919413" cy="542925"/>
          </a:xfrm>
          <a:prstGeom prst="rect">
            <a:avLst/>
          </a:prstGeom>
          <a:noFill/>
          <a:ln/>
        </p:spPr>
        <p:txBody>
          <a:bodyPr wrap="square" lIns="0" tIns="0" rIns="0" bIns="0" rtlCol="0" anchor="t"/>
          <a:lstStyle/>
          <a:p>
            <a:pPr algn="l" indent="0" marL="0">
              <a:lnSpc>
                <a:spcPts val="1368"/>
              </a:lnSpc>
              <a:buNone/>
            </a:pPr>
            <a:r>
              <a:rPr lang="en-US" sz="1140" spc="-34" kern="0" dirty="0">
                <a:solidFill>
                  <a:srgbClr val="8BAFAC">
                    <a:alpha val="99000"/>
                  </a:srgbClr>
                </a:solidFill>
                <a:latin typeface="Inter" pitchFamily="34" charset="0"/>
                <a:ea typeface="Inter" pitchFamily="34" charset="-122"/>
                <a:cs typeface="Inter" pitchFamily="34" charset="-120"/>
              </a:rPr>
              <a:t>Your pressure changes the visuals in front of you. You’re not just watching a piece of media; you’re actively performing with it</a:t>
            </a:r>
            <a:endParaRPr lang="en-US" sz="114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4838700"/>
            <a:ext cx="9144000" cy="304800"/>
          </a:xfrm>
          <a:prstGeom prst="rect">
            <a:avLst/>
          </a:prstGeom>
        </p:spPr>
      </p:pic>
      <p:sp>
        <p:nvSpPr>
          <p:cNvPr id="3" name="Text 0"/>
          <p:cNvSpPr/>
          <p:nvPr/>
        </p:nvSpPr>
        <p:spPr>
          <a:xfrm>
            <a:off x="628650" y="628650"/>
            <a:ext cx="4819650" cy="180975"/>
          </a:xfrm>
          <a:prstGeom prst="rect">
            <a:avLst/>
          </a:prstGeom>
          <a:noFill/>
          <a:ln/>
        </p:spPr>
        <p:txBody>
          <a:bodyPr wrap="square" lIns="0" tIns="0" rIns="0" bIns="0" rtlCol="0" anchor="t"/>
          <a:lstStyle/>
          <a:p>
            <a:pPr algn="l" indent="0" marL="0">
              <a:lnSpc>
                <a:spcPts val="1368"/>
              </a:lnSpc>
              <a:buNone/>
            </a:pPr>
            <a:r>
              <a:rPr lang="en-US" sz="1140" spc="-34" kern="0" dirty="0">
                <a:solidFill>
                  <a:srgbClr val="000000">
                    <a:alpha val="99000"/>
                  </a:srgbClr>
                </a:solidFill>
                <a:latin typeface="Inter" pitchFamily="34" charset="0"/>
                <a:ea typeface="Inter" pitchFamily="34" charset="-122"/>
                <a:cs typeface="Inter" pitchFamily="34" charset="-120"/>
              </a:rPr>
              <a:t>Concept</a:t>
            </a:r>
            <a:endParaRPr lang="en-US" sz="1140" dirty="0"/>
          </a:p>
        </p:txBody>
      </p:sp>
      <p:sp>
        <p:nvSpPr>
          <p:cNvPr id="4" name="Text 1"/>
          <p:cNvSpPr/>
          <p:nvPr/>
        </p:nvSpPr>
        <p:spPr>
          <a:xfrm>
            <a:off x="628650" y="981075"/>
            <a:ext cx="4819650" cy="276225"/>
          </a:xfrm>
          <a:prstGeom prst="rect">
            <a:avLst/>
          </a:prstGeom>
          <a:noFill/>
          <a:ln/>
        </p:spPr>
        <p:txBody>
          <a:bodyPr wrap="square" lIns="0" tIns="0" rIns="0" bIns="0" rtlCol="0" anchor="t"/>
          <a:lstStyle/>
          <a:p>
            <a:pPr algn="l" indent="0" marL="0">
              <a:lnSpc>
                <a:spcPts val="2052"/>
              </a:lnSpc>
              <a:buNone/>
            </a:pPr>
            <a:r>
              <a:rPr lang="en-US" sz="1710" spc="-51" kern="0" dirty="0">
                <a:solidFill>
                  <a:srgbClr val="000000">
                    <a:alpha val="99000"/>
                  </a:srgbClr>
                </a:solidFill>
                <a:latin typeface="Inter" pitchFamily="34" charset="0"/>
                <a:ea typeface="Inter" pitchFamily="34" charset="-122"/>
                <a:cs typeface="Inter" pitchFamily="34" charset="-120"/>
              </a:rPr>
              <a:t>User Journey: First Person</a:t>
            </a:r>
            <a:endParaRPr lang="en-US" sz="1710" dirty="0"/>
          </a:p>
        </p:txBody>
      </p:sp>
      <p:pic>
        <p:nvPicPr>
          <p:cNvPr id="5" name="Image 1" descr="preencoded.png">    </p:cNvPr>
          <p:cNvPicPr>
            <a:picLocks noChangeAspect="1"/>
          </p:cNvPicPr>
          <p:nvPr/>
        </p:nvPicPr>
        <p:blipFill>
          <a:blip r:embed="rId2"/>
          <a:srcRect l="0" r="0" t="0" b="0"/>
          <a:stretch/>
        </p:blipFill>
        <p:spPr>
          <a:xfrm>
            <a:off x="381000" y="1428750"/>
            <a:ext cx="8101013" cy="1828800"/>
          </a:xfrm>
          <a:prstGeom prst="rect">
            <a:avLst/>
          </a:prstGeom>
        </p:spPr>
      </p:pic>
      <p:sp>
        <p:nvSpPr>
          <p:cNvPr id="6" name="Text 2"/>
          <p:cNvSpPr/>
          <p:nvPr/>
        </p:nvSpPr>
        <p:spPr>
          <a:xfrm>
            <a:off x="723900" y="3667125"/>
            <a:ext cx="7758113" cy="600075"/>
          </a:xfrm>
          <a:prstGeom prst="rect">
            <a:avLst/>
          </a:prstGeom>
          <a:noFill/>
          <a:ln/>
        </p:spPr>
        <p:txBody>
          <a:bodyPr wrap="square" lIns="0" tIns="0" rIns="0" bIns="0" rtlCol="0" anchor="t"/>
          <a:lstStyle/>
          <a:p>
            <a:pPr algn="l" indent="0" marL="0">
              <a:lnSpc>
                <a:spcPts val="1482"/>
              </a:lnSpc>
              <a:buNone/>
            </a:pPr>
            <a:r>
              <a:rPr lang="en-US" sz="1140" spc="-34" kern="0" dirty="0">
                <a:solidFill>
                  <a:srgbClr val="000000">
                    <a:alpha val="99000"/>
                  </a:srgbClr>
                </a:solidFill>
                <a:latin typeface="Inter" pitchFamily="34" charset="0"/>
                <a:ea typeface="Inter" pitchFamily="34" charset="-122"/>
                <a:cs typeface="Inter" pitchFamily="34" charset="-120"/>
              </a:rPr>
              <a:t>As a viewer, I walk up and see a short video playing on the wall, with ‘Diamonds Dancing’ setting the mood. There’s a clear acrylic hand sculpture in front of me with subtle lights, almost like it’s waiting. The video and visuals invite me to place my hand on the sculpture</a:t>
            </a:r>
            <a:endParaRPr lang="en-US" sz="114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4838700"/>
            <a:ext cx="9144000" cy="304800"/>
          </a:xfrm>
          <a:prstGeom prst="rect">
            <a:avLst/>
          </a:prstGeom>
        </p:spPr>
      </p:pic>
      <p:sp>
        <p:nvSpPr>
          <p:cNvPr id="3" name="Text 0"/>
          <p:cNvSpPr/>
          <p:nvPr/>
        </p:nvSpPr>
        <p:spPr>
          <a:xfrm>
            <a:off x="628650" y="628650"/>
            <a:ext cx="4819650" cy="180975"/>
          </a:xfrm>
          <a:prstGeom prst="rect">
            <a:avLst/>
          </a:prstGeom>
          <a:noFill/>
          <a:ln/>
        </p:spPr>
        <p:txBody>
          <a:bodyPr wrap="square" lIns="0" tIns="0" rIns="0" bIns="0" rtlCol="0" anchor="t"/>
          <a:lstStyle/>
          <a:p>
            <a:pPr algn="l" indent="0" marL="0">
              <a:lnSpc>
                <a:spcPts val="1368"/>
              </a:lnSpc>
              <a:buNone/>
            </a:pPr>
            <a:r>
              <a:rPr lang="en-US" sz="1140" spc="-34" kern="0" dirty="0">
                <a:solidFill>
                  <a:srgbClr val="000000">
                    <a:alpha val="99000"/>
                  </a:srgbClr>
                </a:solidFill>
                <a:latin typeface="Inter" pitchFamily="34" charset="0"/>
                <a:ea typeface="Inter" pitchFamily="34" charset="-122"/>
                <a:cs typeface="Inter" pitchFamily="34" charset="-120"/>
              </a:rPr>
              <a:t>Concept</a:t>
            </a:r>
            <a:endParaRPr lang="en-US" sz="1140" dirty="0"/>
          </a:p>
        </p:txBody>
      </p:sp>
      <p:sp>
        <p:nvSpPr>
          <p:cNvPr id="4" name="Text 1"/>
          <p:cNvSpPr/>
          <p:nvPr/>
        </p:nvSpPr>
        <p:spPr>
          <a:xfrm>
            <a:off x="628650" y="1009650"/>
            <a:ext cx="4819650" cy="276225"/>
          </a:xfrm>
          <a:prstGeom prst="rect">
            <a:avLst/>
          </a:prstGeom>
          <a:noFill/>
          <a:ln/>
        </p:spPr>
        <p:txBody>
          <a:bodyPr wrap="square" lIns="0" tIns="0" rIns="0" bIns="0" rtlCol="0" anchor="t"/>
          <a:lstStyle/>
          <a:p>
            <a:pPr algn="l" indent="0" marL="0">
              <a:lnSpc>
                <a:spcPts val="2052"/>
              </a:lnSpc>
              <a:buNone/>
            </a:pPr>
            <a:r>
              <a:rPr lang="en-US" sz="1710" spc="-51" kern="0" dirty="0">
                <a:solidFill>
                  <a:srgbClr val="000000">
                    <a:alpha val="99000"/>
                  </a:srgbClr>
                </a:solidFill>
                <a:latin typeface="Inter" pitchFamily="34" charset="0"/>
                <a:ea typeface="Inter" pitchFamily="34" charset="-122"/>
                <a:cs typeface="Inter" pitchFamily="34" charset="-120"/>
              </a:rPr>
              <a:t>User Journey: The Interaction</a:t>
            </a:r>
            <a:endParaRPr lang="en-US" sz="1710" dirty="0"/>
          </a:p>
        </p:txBody>
      </p:sp>
      <p:pic>
        <p:nvPicPr>
          <p:cNvPr id="5" name="Image 1" descr="preencoded.png">    </p:cNvPr>
          <p:cNvPicPr>
            <a:picLocks noChangeAspect="1"/>
          </p:cNvPicPr>
          <p:nvPr/>
        </p:nvPicPr>
        <p:blipFill>
          <a:blip r:embed="rId2"/>
          <a:srcRect l="0" r="0" t="0" b="0"/>
          <a:stretch/>
        </p:blipFill>
        <p:spPr>
          <a:xfrm>
            <a:off x="542925" y="1462088"/>
            <a:ext cx="8162925" cy="2219325"/>
          </a:xfrm>
          <a:prstGeom prst="rect">
            <a:avLst/>
          </a:prstGeom>
        </p:spPr>
      </p:pic>
      <p:sp>
        <p:nvSpPr>
          <p:cNvPr id="6" name="Text 2"/>
          <p:cNvSpPr/>
          <p:nvPr/>
        </p:nvSpPr>
        <p:spPr>
          <a:xfrm>
            <a:off x="604838" y="4005262"/>
            <a:ext cx="8386763" cy="600075"/>
          </a:xfrm>
          <a:prstGeom prst="rect">
            <a:avLst/>
          </a:prstGeom>
          <a:noFill/>
          <a:ln/>
        </p:spPr>
        <p:txBody>
          <a:bodyPr wrap="square" lIns="0" tIns="0" rIns="0" bIns="0" rtlCol="0" anchor="t"/>
          <a:lstStyle/>
          <a:p>
            <a:pPr algn="l" indent="0" marL="0">
              <a:lnSpc>
                <a:spcPts val="1482"/>
              </a:lnSpc>
              <a:buNone/>
            </a:pPr>
            <a:r>
              <a:rPr lang="en-US" sz="1140" spc="-34" kern="0" dirty="0">
                <a:solidFill>
                  <a:srgbClr val="000000">
                    <a:alpha val="99000"/>
                  </a:srgbClr>
                </a:solidFill>
                <a:latin typeface="Inter" pitchFamily="34" charset="0"/>
                <a:ea typeface="Inter" pitchFamily="34" charset="-122"/>
                <a:cs typeface="Inter" pitchFamily="34" charset="-120"/>
              </a:rPr>
              <a:t>When I press lightly, I hear calm, ambient sound and see soft, gentle visuals. When I press harder, the Brazilian funk parts of ‘São Paulo’ start to cut through, and the visuals become brighter and more complex. The longer and harder I press, the more intense everything feels. When I release, the system slowly settles back down and breathes out with me</a:t>
            </a:r>
            <a:endParaRPr lang="en-US" sz="114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4838700"/>
            <a:ext cx="9144000" cy="304800"/>
          </a:xfrm>
          <a:prstGeom prst="rect">
            <a:avLst/>
          </a:prstGeom>
        </p:spPr>
      </p:pic>
      <p:sp>
        <p:nvSpPr>
          <p:cNvPr id="3" name="Text 0"/>
          <p:cNvSpPr/>
          <p:nvPr/>
        </p:nvSpPr>
        <p:spPr>
          <a:xfrm>
            <a:off x="628650" y="628650"/>
            <a:ext cx="4819650" cy="180975"/>
          </a:xfrm>
          <a:prstGeom prst="rect">
            <a:avLst/>
          </a:prstGeom>
          <a:noFill/>
          <a:ln/>
        </p:spPr>
        <p:txBody>
          <a:bodyPr wrap="square" lIns="0" tIns="0" rIns="0" bIns="0" rtlCol="0" anchor="t"/>
          <a:lstStyle/>
          <a:p>
            <a:pPr algn="l" indent="0" marL="0">
              <a:lnSpc>
                <a:spcPts val="1368"/>
              </a:lnSpc>
              <a:buNone/>
            </a:pPr>
            <a:r>
              <a:rPr lang="en-US" sz="1140" spc="-34" kern="0" dirty="0">
                <a:solidFill>
                  <a:srgbClr val="000000">
                    <a:alpha val="99000"/>
                  </a:srgbClr>
                </a:solidFill>
                <a:latin typeface="Inter" pitchFamily="34" charset="0"/>
                <a:ea typeface="Inter" pitchFamily="34" charset="-122"/>
                <a:cs typeface="Inter" pitchFamily="34" charset="-120"/>
              </a:rPr>
              <a:t>Progress</a:t>
            </a:r>
            <a:endParaRPr lang="en-US" sz="1140" dirty="0"/>
          </a:p>
        </p:txBody>
      </p:sp>
      <p:sp>
        <p:nvSpPr>
          <p:cNvPr id="4" name="Text 1"/>
          <p:cNvSpPr/>
          <p:nvPr/>
        </p:nvSpPr>
        <p:spPr>
          <a:xfrm>
            <a:off x="628650" y="1009650"/>
            <a:ext cx="4819650" cy="276225"/>
          </a:xfrm>
          <a:prstGeom prst="rect">
            <a:avLst/>
          </a:prstGeom>
          <a:noFill/>
          <a:ln/>
        </p:spPr>
        <p:txBody>
          <a:bodyPr wrap="square" lIns="0" tIns="0" rIns="0" bIns="0" rtlCol="0" anchor="t"/>
          <a:lstStyle/>
          <a:p>
            <a:pPr algn="l" indent="0" marL="0">
              <a:lnSpc>
                <a:spcPts val="2052"/>
              </a:lnSpc>
              <a:buNone/>
            </a:pPr>
            <a:r>
              <a:rPr lang="en-US" sz="1710" spc="-51" kern="0" dirty="0">
                <a:solidFill>
                  <a:srgbClr val="000000">
                    <a:alpha val="99000"/>
                  </a:srgbClr>
                </a:solidFill>
                <a:latin typeface="Inter" pitchFamily="34" charset="0"/>
                <a:ea typeface="Inter" pitchFamily="34" charset="-122"/>
                <a:cs typeface="Inter" pitchFamily="34" charset="-120"/>
              </a:rPr>
              <a:t>On-Screen Flow: Video Intro</a:t>
            </a:r>
            <a:endParaRPr lang="en-US" sz="1710" dirty="0"/>
          </a:p>
        </p:txBody>
      </p:sp>
      <p:pic>
        <p:nvPicPr>
          <p:cNvPr id="5" name="Image 1" descr="preencoded.png">    </p:cNvPr>
          <p:cNvPicPr>
            <a:picLocks noChangeAspect="1"/>
          </p:cNvPicPr>
          <p:nvPr/>
        </p:nvPicPr>
        <p:blipFill>
          <a:blip r:embed="rId2"/>
          <a:srcRect l="0" r="0" t="0" b="0"/>
          <a:stretch/>
        </p:blipFill>
        <p:spPr>
          <a:xfrm>
            <a:off x="0" y="1404938"/>
            <a:ext cx="9144000" cy="350936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4838700"/>
            <a:ext cx="9144000" cy="304800"/>
          </a:xfrm>
          <a:prstGeom prst="rect">
            <a:avLst/>
          </a:prstGeom>
        </p:spPr>
      </p:pic>
      <p:sp>
        <p:nvSpPr>
          <p:cNvPr id="3" name="Text 0"/>
          <p:cNvSpPr/>
          <p:nvPr/>
        </p:nvSpPr>
        <p:spPr>
          <a:xfrm>
            <a:off x="628650" y="628650"/>
            <a:ext cx="4819650" cy="180975"/>
          </a:xfrm>
          <a:prstGeom prst="rect">
            <a:avLst/>
          </a:prstGeom>
          <a:noFill/>
          <a:ln/>
        </p:spPr>
        <p:txBody>
          <a:bodyPr wrap="square" lIns="0" tIns="0" rIns="0" bIns="0" rtlCol="0" anchor="t"/>
          <a:lstStyle/>
          <a:p>
            <a:pPr algn="l" indent="0" marL="0">
              <a:lnSpc>
                <a:spcPts val="1368"/>
              </a:lnSpc>
              <a:buNone/>
            </a:pPr>
            <a:r>
              <a:rPr lang="en-US" sz="1140" spc="-34" kern="0" dirty="0">
                <a:solidFill>
                  <a:srgbClr val="000000">
                    <a:alpha val="99000"/>
                  </a:srgbClr>
                </a:solidFill>
                <a:latin typeface="Inter" pitchFamily="34" charset="0"/>
                <a:ea typeface="Inter" pitchFamily="34" charset="-122"/>
                <a:cs typeface="Inter" pitchFamily="34" charset="-120"/>
              </a:rPr>
              <a:t>Progress</a:t>
            </a:r>
            <a:endParaRPr lang="en-US" sz="1140" dirty="0"/>
          </a:p>
        </p:txBody>
      </p:sp>
      <p:sp>
        <p:nvSpPr>
          <p:cNvPr id="4" name="Text 1"/>
          <p:cNvSpPr/>
          <p:nvPr/>
        </p:nvSpPr>
        <p:spPr>
          <a:xfrm>
            <a:off x="628650" y="1009650"/>
            <a:ext cx="4819650" cy="276225"/>
          </a:xfrm>
          <a:prstGeom prst="rect">
            <a:avLst/>
          </a:prstGeom>
          <a:noFill/>
          <a:ln/>
        </p:spPr>
        <p:txBody>
          <a:bodyPr wrap="square" lIns="0" tIns="0" rIns="0" bIns="0" rtlCol="0" anchor="t"/>
          <a:lstStyle/>
          <a:p>
            <a:pPr algn="l" indent="0" marL="0">
              <a:lnSpc>
                <a:spcPts val="2052"/>
              </a:lnSpc>
              <a:buNone/>
            </a:pPr>
            <a:r>
              <a:rPr lang="en-US" sz="1710" spc="-51" kern="0" dirty="0">
                <a:solidFill>
                  <a:srgbClr val="000000">
                    <a:alpha val="99000"/>
                  </a:srgbClr>
                </a:solidFill>
                <a:latin typeface="Inter" pitchFamily="34" charset="0"/>
                <a:ea typeface="Inter" pitchFamily="34" charset="-122"/>
                <a:cs typeface="Inter" pitchFamily="34" charset="-120"/>
              </a:rPr>
              <a:t>Fabrication</a:t>
            </a:r>
            <a:endParaRPr lang="en-US" sz="1710" dirty="0"/>
          </a:p>
        </p:txBody>
      </p:sp>
      <p:pic>
        <p:nvPicPr>
          <p:cNvPr id="5" name="Image 1" descr="preencoded.png">    </p:cNvPr>
          <p:cNvPicPr>
            <a:picLocks noChangeAspect="1"/>
          </p:cNvPicPr>
          <p:nvPr/>
        </p:nvPicPr>
        <p:blipFill>
          <a:blip r:embed="rId2"/>
          <a:srcRect l="0" r="0" t="0" b="0"/>
          <a:stretch/>
        </p:blipFill>
        <p:spPr>
          <a:xfrm>
            <a:off x="576263" y="1285875"/>
            <a:ext cx="4926769" cy="3238562"/>
          </a:xfrm>
          <a:prstGeom prst="rect">
            <a:avLst/>
          </a:prstGeom>
        </p:spPr>
      </p:pic>
      <p:pic>
        <p:nvPicPr>
          <p:cNvPr id="6" name="Image 2" descr="preencoded.png">    </p:cNvPr>
          <p:cNvPicPr>
            <a:picLocks noChangeAspect="1"/>
          </p:cNvPicPr>
          <p:nvPr/>
        </p:nvPicPr>
        <p:blipFill>
          <a:blip r:embed="rId3"/>
          <a:srcRect l="0" r="0" t="0" b="0"/>
          <a:stretch/>
        </p:blipFill>
        <p:spPr>
          <a:xfrm>
            <a:off x="3038475" y="2781300"/>
            <a:ext cx="3557588" cy="23622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28650" y="1671638"/>
            <a:ext cx="3481388" cy="1633538"/>
          </a:xfrm>
          <a:prstGeom prst="rect">
            <a:avLst/>
          </a:prstGeom>
          <a:noFill/>
          <a:ln/>
        </p:spPr>
      </p:sp>
      <p:sp>
        <p:nvSpPr>
          <p:cNvPr id="3" name="Shape 1"/>
          <p:cNvSpPr/>
          <p:nvPr/>
        </p:nvSpPr>
        <p:spPr>
          <a:xfrm>
            <a:off x="628650" y="1671638"/>
            <a:ext cx="3076575" cy="1633538"/>
          </a:xfrm>
          <a:prstGeom prst="rect">
            <a:avLst/>
          </a:prstGeom>
          <a:noFill/>
          <a:ln/>
        </p:spPr>
      </p:sp>
      <p:sp>
        <p:nvSpPr>
          <p:cNvPr id="4" name="Text 2"/>
          <p:cNvSpPr/>
          <p:nvPr/>
        </p:nvSpPr>
        <p:spPr>
          <a:xfrm>
            <a:off x="628650" y="1671638"/>
            <a:ext cx="3076575" cy="1633538"/>
          </a:xfrm>
          <a:prstGeom prst="rect">
            <a:avLst/>
          </a:prstGeom>
          <a:noFill/>
          <a:ln/>
        </p:spPr>
        <p:txBody>
          <a:bodyPr wrap="square" lIns="0" tIns="0" rIns="0" bIns="0" rtlCol="0" anchor="ctr"/>
          <a:lstStyle/>
          <a:p>
            <a:pPr algn="l" marL="342900" indent="-342900">
              <a:lnSpc>
                <a:spcPts val="1744"/>
              </a:lnSpc>
              <a:buSzPct val="100000"/>
              <a:buChar char="•"/>
            </a:pPr>
            <a:r>
              <a:rPr lang="en-US" sz="1283" spc="-38" kern="0" dirty="0">
                <a:solidFill>
                  <a:srgbClr val="000000">
                    <a:alpha val="99000"/>
                  </a:srgbClr>
                </a:solidFill>
                <a:latin typeface="Inter" pitchFamily="34" charset="0"/>
                <a:ea typeface="Inter" pitchFamily="34" charset="-122"/>
                <a:cs typeface="Inter" pitchFamily="34" charset="-120"/>
              </a:rPr>
              <a:t>Pressure sensor (FSR) in the hand sculpture</a:t>
            </a:r>
            <a:endParaRPr lang="en-US" sz="1283" dirty="0"/>
          </a:p>
          <a:p>
            <a:pPr algn="l" marL="342900" indent="-342900">
              <a:lnSpc>
                <a:spcPts val="1744"/>
              </a:lnSpc>
              <a:buSzPct val="100000"/>
              <a:buChar char="•"/>
            </a:pPr>
            <a:r>
              <a:rPr lang="en-US" sz="1283" spc="-38" kern="0" dirty="0">
                <a:solidFill>
                  <a:srgbClr val="000000">
                    <a:alpha val="99000"/>
                  </a:srgbClr>
                </a:solidFill>
                <a:latin typeface="Inter" pitchFamily="34" charset="0"/>
                <a:ea typeface="Inter" pitchFamily="34" charset="-122"/>
                <a:cs typeface="Inter" pitchFamily="34" charset="-120"/>
              </a:rPr>
              <a:t>Arduino reads pressure and sends it to the computer</a:t>
            </a:r>
            <a:endParaRPr lang="en-US" sz="1283" dirty="0"/>
          </a:p>
          <a:p>
            <a:pPr algn="l" marL="342900" indent="-342900">
              <a:lnSpc>
                <a:spcPts val="1744"/>
              </a:lnSpc>
              <a:buSzPct val="100000"/>
              <a:buChar char="•"/>
            </a:pPr>
            <a:r>
              <a:rPr lang="en-US" sz="1283" spc="-38" kern="0" dirty="0">
                <a:solidFill>
                  <a:srgbClr val="000000">
                    <a:alpha val="99000"/>
                  </a:srgbClr>
                </a:solidFill>
                <a:latin typeface="Inter" pitchFamily="34" charset="0"/>
                <a:ea typeface="Inter" pitchFamily="34" charset="-122"/>
                <a:cs typeface="Inter" pitchFamily="34" charset="-120"/>
              </a:rPr>
              <a:t>p5.js controls visuals and audio mix</a:t>
            </a:r>
            <a:endParaRPr lang="en-US" sz="1283" dirty="0"/>
          </a:p>
          <a:p>
            <a:pPr algn="l" marL="342900" indent="-342900">
              <a:lnSpc>
                <a:spcPts val="1744"/>
              </a:lnSpc>
              <a:buSzPct val="100000"/>
              <a:buChar char="•"/>
            </a:pPr>
            <a:r>
              <a:rPr lang="en-US" sz="1283" spc="-38" kern="0" dirty="0">
                <a:solidFill>
                  <a:srgbClr val="000000">
                    <a:alpha val="99000"/>
                  </a:srgbClr>
                </a:solidFill>
                <a:latin typeface="Inter" pitchFamily="34" charset="0"/>
                <a:ea typeface="Inter" pitchFamily="34" charset="-122"/>
                <a:cs typeface="Inter" pitchFamily="34" charset="-120"/>
              </a:rPr>
              <a:t>LEDs reflect intensity on the sculpture</a:t>
            </a:r>
            <a:endParaRPr lang="en-US" sz="1283" dirty="0"/>
          </a:p>
        </p:txBody>
      </p:sp>
      <p:pic>
        <p:nvPicPr>
          <p:cNvPr id="5" name="Image 0" descr="preencoded.png">    </p:cNvPr>
          <p:cNvPicPr>
            <a:picLocks noChangeAspect="1"/>
          </p:cNvPicPr>
          <p:nvPr/>
        </p:nvPicPr>
        <p:blipFill>
          <a:blip r:embed="rId1"/>
          <a:srcRect l="0" r="0" t="0" b="0"/>
          <a:stretch/>
        </p:blipFill>
        <p:spPr>
          <a:xfrm>
            <a:off x="0" y="4838700"/>
            <a:ext cx="9144000" cy="304800"/>
          </a:xfrm>
          <a:prstGeom prst="rect">
            <a:avLst/>
          </a:prstGeom>
        </p:spPr>
      </p:pic>
      <p:sp>
        <p:nvSpPr>
          <p:cNvPr id="6" name="Text 3"/>
          <p:cNvSpPr/>
          <p:nvPr/>
        </p:nvSpPr>
        <p:spPr>
          <a:xfrm>
            <a:off x="628650" y="628650"/>
            <a:ext cx="4819650" cy="180975"/>
          </a:xfrm>
          <a:prstGeom prst="rect">
            <a:avLst/>
          </a:prstGeom>
          <a:noFill/>
          <a:ln/>
        </p:spPr>
        <p:txBody>
          <a:bodyPr wrap="square" lIns="0" tIns="0" rIns="0" bIns="0" rtlCol="0" anchor="t"/>
          <a:lstStyle/>
          <a:p>
            <a:pPr algn="l" indent="0" marL="0">
              <a:lnSpc>
                <a:spcPts val="1368"/>
              </a:lnSpc>
              <a:buNone/>
            </a:pPr>
            <a:r>
              <a:rPr lang="en-US" sz="1140" spc="-34" kern="0" dirty="0">
                <a:solidFill>
                  <a:srgbClr val="000000">
                    <a:alpha val="99000"/>
                  </a:srgbClr>
                </a:solidFill>
                <a:latin typeface="Inter" pitchFamily="34" charset="0"/>
                <a:ea typeface="Inter" pitchFamily="34" charset="-122"/>
                <a:cs typeface="Inter" pitchFamily="34" charset="-120"/>
              </a:rPr>
              <a:t>Tech</a:t>
            </a:r>
            <a:endParaRPr lang="en-US" sz="1140" dirty="0"/>
          </a:p>
        </p:txBody>
      </p:sp>
      <p:sp>
        <p:nvSpPr>
          <p:cNvPr id="7" name="Text 4"/>
          <p:cNvSpPr/>
          <p:nvPr/>
        </p:nvSpPr>
        <p:spPr>
          <a:xfrm>
            <a:off x="628650" y="981075"/>
            <a:ext cx="4819650" cy="276225"/>
          </a:xfrm>
          <a:prstGeom prst="rect">
            <a:avLst/>
          </a:prstGeom>
          <a:noFill/>
          <a:ln/>
        </p:spPr>
        <p:txBody>
          <a:bodyPr wrap="square" lIns="0" tIns="0" rIns="0" bIns="0" rtlCol="0" anchor="t"/>
          <a:lstStyle/>
          <a:p>
            <a:pPr algn="l" indent="0" marL="0">
              <a:lnSpc>
                <a:spcPts val="2052"/>
              </a:lnSpc>
              <a:buNone/>
            </a:pPr>
            <a:r>
              <a:rPr lang="en-US" sz="1710" spc="-51" kern="0" dirty="0">
                <a:solidFill>
                  <a:srgbClr val="000000">
                    <a:alpha val="99000"/>
                  </a:srgbClr>
                </a:solidFill>
                <a:latin typeface="Inter" pitchFamily="34" charset="0"/>
                <a:ea typeface="Inter" pitchFamily="34" charset="-122"/>
                <a:cs typeface="Inter" pitchFamily="34" charset="-120"/>
              </a:rPr>
              <a:t>Tech Overview</a:t>
            </a:r>
            <a:endParaRPr lang="en-US" sz="1710" dirty="0"/>
          </a:p>
        </p:txBody>
      </p:sp>
      <p:sp>
        <p:nvSpPr>
          <p:cNvPr id="8" name="Text 5"/>
          <p:cNvSpPr/>
          <p:nvPr/>
        </p:nvSpPr>
        <p:spPr>
          <a:xfrm>
            <a:off x="4795838" y="3019425"/>
            <a:ext cx="3810000" cy="1266825"/>
          </a:xfrm>
          <a:prstGeom prst="rect">
            <a:avLst/>
          </a:prstGeom>
          <a:noFill/>
          <a:ln/>
        </p:spPr>
        <p:txBody>
          <a:bodyPr wrap="square" lIns="0" tIns="0" rIns="0" bIns="0" rtlCol="0" anchor="t"/>
          <a:lstStyle/>
          <a:p>
            <a:pPr algn="l" indent="0" marL="0">
              <a:lnSpc>
                <a:spcPts val="1368"/>
              </a:lnSpc>
              <a:buNone/>
            </a:pPr>
            <a:r>
              <a:rPr lang="en-US" sz="1140" spc="-34" kern="0" dirty="0">
                <a:solidFill>
                  <a:srgbClr val="8BAFAC">
                    <a:alpha val="99000"/>
                  </a:srgbClr>
                </a:solidFill>
                <a:latin typeface="Inter" pitchFamily="34" charset="0"/>
                <a:ea typeface="Inter" pitchFamily="34" charset="-122"/>
                <a:cs typeface="Inter" pitchFamily="34" charset="-120"/>
              </a:rPr>
              <a:t>Inside the hand sculpture there’s a force‑sensitive resistor that measures how hard you press. An Arduino reads that data and sends it to a computer. In p5.js, that sensor data controls both the visuals on the wall and the mix between ambient sound and ‘São Paulo.’ The LEDs in the sculpture also change based on intensity, so the object itself feels alive</a:t>
            </a:r>
            <a:endParaRPr lang="en-US" sz="114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4838700"/>
            <a:ext cx="9144000" cy="304800"/>
          </a:xfrm>
          <a:prstGeom prst="rect">
            <a:avLst/>
          </a:prstGeom>
        </p:spPr>
      </p:pic>
      <p:sp>
        <p:nvSpPr>
          <p:cNvPr id="3" name="Text 0"/>
          <p:cNvSpPr/>
          <p:nvPr/>
        </p:nvSpPr>
        <p:spPr>
          <a:xfrm>
            <a:off x="628650" y="628650"/>
            <a:ext cx="4819650" cy="180975"/>
          </a:xfrm>
          <a:prstGeom prst="rect">
            <a:avLst/>
          </a:prstGeom>
          <a:noFill/>
          <a:ln/>
        </p:spPr>
        <p:txBody>
          <a:bodyPr wrap="square" lIns="0" tIns="0" rIns="0" bIns="0" rtlCol="0" anchor="t"/>
          <a:lstStyle/>
          <a:p>
            <a:pPr algn="l" indent="0" marL="0">
              <a:lnSpc>
                <a:spcPts val="1368"/>
              </a:lnSpc>
              <a:buNone/>
            </a:pPr>
            <a:r>
              <a:rPr lang="en-US" sz="1140" spc="-34" kern="0" dirty="0">
                <a:solidFill>
                  <a:srgbClr val="000000">
                    <a:alpha val="99000"/>
                  </a:srgbClr>
                </a:solidFill>
                <a:latin typeface="Inter" pitchFamily="34" charset="0"/>
                <a:ea typeface="Inter" pitchFamily="34" charset="-122"/>
                <a:cs typeface="Inter" pitchFamily="34" charset="-120"/>
              </a:rPr>
              <a:t>Tech</a:t>
            </a:r>
            <a:endParaRPr lang="en-US" sz="1140" dirty="0"/>
          </a:p>
        </p:txBody>
      </p:sp>
      <p:sp>
        <p:nvSpPr>
          <p:cNvPr id="4" name="Text 1"/>
          <p:cNvSpPr/>
          <p:nvPr/>
        </p:nvSpPr>
        <p:spPr>
          <a:xfrm>
            <a:off x="628650" y="981075"/>
            <a:ext cx="4819650" cy="276225"/>
          </a:xfrm>
          <a:prstGeom prst="rect">
            <a:avLst/>
          </a:prstGeom>
          <a:noFill/>
          <a:ln/>
        </p:spPr>
        <p:txBody>
          <a:bodyPr wrap="square" lIns="0" tIns="0" rIns="0" bIns="0" rtlCol="0" anchor="t"/>
          <a:lstStyle/>
          <a:p>
            <a:pPr algn="l" indent="0" marL="0">
              <a:lnSpc>
                <a:spcPts val="2052"/>
              </a:lnSpc>
              <a:buNone/>
            </a:pPr>
            <a:r>
              <a:rPr lang="en-US" sz="1710" spc="-51" kern="0" dirty="0">
                <a:solidFill>
                  <a:srgbClr val="000000">
                    <a:alpha val="99000"/>
                  </a:srgbClr>
                </a:solidFill>
                <a:latin typeface="Inter" pitchFamily="34" charset="0"/>
                <a:ea typeface="Inter" pitchFamily="34" charset="-122"/>
                <a:cs typeface="Inter" pitchFamily="34" charset="-120"/>
              </a:rPr>
              <a:t>Tech Overview</a:t>
            </a:r>
            <a:endParaRPr lang="en-US" sz="1710" dirty="0"/>
          </a:p>
        </p:txBody>
      </p:sp>
      <p:sp>
        <p:nvSpPr>
          <p:cNvPr id="5" name="Text 2"/>
          <p:cNvSpPr/>
          <p:nvPr/>
        </p:nvSpPr>
        <p:spPr>
          <a:xfrm>
            <a:off x="347663" y="4714875"/>
            <a:ext cx="309563" cy="200025"/>
          </a:xfrm>
          <a:prstGeom prst="rect">
            <a:avLst/>
          </a:prstGeom>
          <a:noFill/>
          <a:ln/>
        </p:spPr>
        <p:txBody>
          <a:bodyPr wrap="square" lIns="0" tIns="0" rIns="0" bIns="0" rtlCol="0" anchor="ctr"/>
          <a:lstStyle/>
          <a:p>
            <a:pPr algn="l" indent="0" marL="0">
              <a:lnSpc>
                <a:spcPts val="1482"/>
              </a:lnSpc>
              <a:buNone/>
            </a:pPr>
            <a:r>
              <a:rPr lang="en-US" sz="1140" u="sng" spc="-34" kern="0" dirty="0">
                <a:solidFill>
                  <a:srgbClr val="000000">
                    <a:alpha val="99000"/>
                  </a:srgbClr>
                </a:solidFill>
                <a:latin typeface="Inter" pitchFamily="34" charset="0"/>
                <a:ea typeface="Inter" pitchFamily="34" charset="-122"/>
                <a:cs typeface="Inter" pitchFamily="34" charset="-120"/>
                <a:hlinkClick r:id="rId2" invalidUrl="" action="" tgtFrame="" tooltip="" history="1" highlightClick="0" endSnd="0">
                  <a:extLst>
                    <a:ext uri="{A12FA001-AC4F-418D-AE19-62706E023703}">
                      <ahyp:hlinkClr xmlns:ahyp="http://schemas.microsoft.com/office/drawing/2018/hyperlinkcolor" val="tx"/>
                    </a:ext>
                  </a:extLst>
                </a:hlinkClick>
              </a:rPr>
              <a:t>miro</a:t>
            </a:r>
            <a:endParaRPr lang="en-US" sz="1140" dirty="0"/>
          </a:p>
        </p:txBody>
      </p:sp>
      <p:pic>
        <p:nvPicPr>
          <p:cNvPr id="6" name="Image 1" descr="preencoded.png">    </p:cNvPr>
          <p:cNvPicPr>
            <a:picLocks noChangeAspect="1"/>
          </p:cNvPicPr>
          <p:nvPr/>
        </p:nvPicPr>
        <p:blipFill>
          <a:blip r:embed="rId3"/>
          <a:srcRect l="0" r="0" t="0" b="0"/>
          <a:stretch/>
        </p:blipFill>
        <p:spPr>
          <a:xfrm>
            <a:off x="3605213" y="1433513"/>
            <a:ext cx="2514600" cy="1800225"/>
          </a:xfrm>
          <a:prstGeom prst="rect">
            <a:avLst/>
          </a:prstGeom>
        </p:spPr>
      </p:pic>
      <p:pic>
        <p:nvPicPr>
          <p:cNvPr id="7" name="Image 2" descr="preencoded.png">    </p:cNvPr>
          <p:cNvPicPr>
            <a:picLocks noChangeAspect="1"/>
          </p:cNvPicPr>
          <p:nvPr/>
        </p:nvPicPr>
        <p:blipFill>
          <a:blip r:embed="rId4"/>
          <a:srcRect l="0" r="0" t="0" b="0"/>
          <a:stretch/>
        </p:blipFill>
        <p:spPr>
          <a:xfrm>
            <a:off x="623888" y="1428750"/>
            <a:ext cx="2719388" cy="180498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28650" y="1671638"/>
            <a:ext cx="3481388" cy="2100263"/>
          </a:xfrm>
          <a:prstGeom prst="rect">
            <a:avLst/>
          </a:prstGeom>
          <a:noFill/>
          <a:ln/>
        </p:spPr>
      </p:sp>
      <p:sp>
        <p:nvSpPr>
          <p:cNvPr id="3" name="Shape 1"/>
          <p:cNvSpPr/>
          <p:nvPr/>
        </p:nvSpPr>
        <p:spPr>
          <a:xfrm>
            <a:off x="628650" y="1671638"/>
            <a:ext cx="3076575" cy="2100263"/>
          </a:xfrm>
          <a:prstGeom prst="rect">
            <a:avLst/>
          </a:prstGeom>
          <a:noFill/>
          <a:ln/>
        </p:spPr>
      </p:sp>
      <p:sp>
        <p:nvSpPr>
          <p:cNvPr id="4" name="Text 2"/>
          <p:cNvSpPr/>
          <p:nvPr/>
        </p:nvSpPr>
        <p:spPr>
          <a:xfrm>
            <a:off x="628650" y="1671638"/>
            <a:ext cx="3076575" cy="2100263"/>
          </a:xfrm>
          <a:prstGeom prst="rect">
            <a:avLst/>
          </a:prstGeom>
          <a:noFill/>
          <a:ln/>
        </p:spPr>
        <p:txBody>
          <a:bodyPr wrap="square" lIns="0" tIns="0" rIns="0" bIns="0" rtlCol="0" anchor="ctr"/>
          <a:lstStyle/>
          <a:p>
            <a:pPr algn="l" marL="342900" indent="-342900">
              <a:lnSpc>
                <a:spcPts val="1744"/>
              </a:lnSpc>
              <a:buSzPct val="100000"/>
              <a:buChar char="•"/>
            </a:pPr>
            <a:r>
              <a:rPr lang="en-US" sz="1283" spc="-38" kern="0" dirty="0">
                <a:solidFill>
                  <a:srgbClr val="000000">
                    <a:alpha val="99000"/>
                  </a:srgbClr>
                </a:solidFill>
                <a:latin typeface="Inter" pitchFamily="34" charset="0"/>
                <a:ea typeface="Inter" pitchFamily="34" charset="-122"/>
                <a:cs typeface="Inter" pitchFamily="34" charset="-120"/>
              </a:rPr>
              <a:t>p5.js for generative visuals and sound transitions</a:t>
            </a:r>
            <a:endParaRPr lang="en-US" sz="1283" dirty="0"/>
          </a:p>
          <a:p>
            <a:pPr algn="l" marL="342900" indent="-342900">
              <a:lnSpc>
                <a:spcPts val="1744"/>
              </a:lnSpc>
              <a:buSzPct val="100000"/>
              <a:buChar char="•"/>
            </a:pPr>
            <a:r>
              <a:rPr lang="en-US" sz="1283" spc="-38" kern="0" dirty="0">
                <a:solidFill>
                  <a:srgbClr val="000000">
                    <a:alpha val="99000"/>
                  </a:srgbClr>
                </a:solidFill>
                <a:latin typeface="Inter" pitchFamily="34" charset="0"/>
                <a:ea typeface="Inter" pitchFamily="34" charset="-122"/>
                <a:cs typeface="Inter" pitchFamily="34" charset="-120"/>
              </a:rPr>
              <a:t>Web serial communication between Arduino and browser</a:t>
            </a:r>
            <a:endParaRPr lang="en-US" sz="1283" dirty="0"/>
          </a:p>
          <a:p>
            <a:pPr algn="l" marL="342900" indent="-342900">
              <a:lnSpc>
                <a:spcPts val="1744"/>
              </a:lnSpc>
              <a:buSzPct val="100000"/>
              <a:buChar char="•"/>
            </a:pPr>
            <a:r>
              <a:rPr lang="en-US" sz="1283" spc="-38" kern="0" dirty="0">
                <a:solidFill>
                  <a:srgbClr val="000000">
                    <a:alpha val="99000"/>
                  </a:srgbClr>
                </a:solidFill>
                <a:latin typeface="Inter" pitchFamily="34" charset="0"/>
                <a:ea typeface="Inter" pitchFamily="34" charset="-122"/>
                <a:cs typeface="Inter" pitchFamily="34" charset="-120"/>
              </a:rPr>
              <a:t>Sensor mapping: pressure → light, color, sound energy</a:t>
            </a:r>
            <a:endParaRPr lang="en-US" sz="1283" dirty="0"/>
          </a:p>
          <a:p>
            <a:pPr algn="l" marL="342900" indent="-342900">
              <a:lnSpc>
                <a:spcPts val="1744"/>
              </a:lnSpc>
              <a:buSzPct val="100000"/>
              <a:buChar char="•"/>
            </a:pPr>
            <a:r>
              <a:rPr lang="en-US" sz="1283" spc="-38" kern="0" dirty="0">
                <a:solidFill>
                  <a:srgbClr val="000000">
                    <a:alpha val="99000"/>
                  </a:srgbClr>
                </a:solidFill>
                <a:latin typeface="Inter" pitchFamily="34" charset="0"/>
                <a:ea typeface="Inter" pitchFamily="34" charset="-122"/>
                <a:cs typeface="Inter" pitchFamily="34" charset="-120"/>
              </a:rPr>
              <a:t>Physical fabrication: Soldering, lazer cutting, projection</a:t>
            </a:r>
            <a:endParaRPr lang="en-US" sz="1283" dirty="0"/>
          </a:p>
          <a:p>
            <a:pPr algn="l" marL="342900" indent="-342900">
              <a:lnSpc>
                <a:spcPts val="1744"/>
              </a:lnSpc>
              <a:buSzPct val="100000"/>
              <a:buChar char="•"/>
            </a:pPr>
            <a:r>
              <a:rPr lang="en-US" sz="1283" spc="-38" kern="0" dirty="0">
                <a:solidFill>
                  <a:srgbClr val="000000">
                    <a:alpha val="99000"/>
                  </a:srgbClr>
                </a:solidFill>
                <a:latin typeface="Inter" pitchFamily="34" charset="0"/>
                <a:ea typeface="Inter" pitchFamily="34" charset="-122"/>
                <a:cs typeface="Inter" pitchFamily="34" charset="-120"/>
              </a:rPr>
              <a:t>Templates from Creative Computing</a:t>
            </a:r>
            <a:endParaRPr lang="en-US" sz="1283" dirty="0"/>
          </a:p>
        </p:txBody>
      </p:sp>
      <p:pic>
        <p:nvPicPr>
          <p:cNvPr id="5" name="Image 0" descr="preencoded.png">    </p:cNvPr>
          <p:cNvPicPr>
            <a:picLocks noChangeAspect="1"/>
          </p:cNvPicPr>
          <p:nvPr/>
        </p:nvPicPr>
        <p:blipFill>
          <a:blip r:embed="rId1"/>
          <a:srcRect l="0" r="0" t="0" b="0"/>
          <a:stretch/>
        </p:blipFill>
        <p:spPr>
          <a:xfrm>
            <a:off x="0" y="4838700"/>
            <a:ext cx="9144000" cy="304800"/>
          </a:xfrm>
          <a:prstGeom prst="rect">
            <a:avLst/>
          </a:prstGeom>
        </p:spPr>
      </p:pic>
      <p:sp>
        <p:nvSpPr>
          <p:cNvPr id="6" name="Text 3"/>
          <p:cNvSpPr/>
          <p:nvPr/>
        </p:nvSpPr>
        <p:spPr>
          <a:xfrm>
            <a:off x="628650" y="628650"/>
            <a:ext cx="4819650" cy="180975"/>
          </a:xfrm>
          <a:prstGeom prst="rect">
            <a:avLst/>
          </a:prstGeom>
          <a:noFill/>
          <a:ln/>
        </p:spPr>
        <p:txBody>
          <a:bodyPr wrap="square" lIns="0" tIns="0" rIns="0" bIns="0" rtlCol="0" anchor="t"/>
          <a:lstStyle/>
          <a:p>
            <a:pPr algn="l" indent="0" marL="0">
              <a:lnSpc>
                <a:spcPts val="1368"/>
              </a:lnSpc>
              <a:buNone/>
            </a:pPr>
            <a:r>
              <a:rPr lang="en-US" sz="1140" spc="-34" kern="0" dirty="0">
                <a:solidFill>
                  <a:srgbClr val="000000">
                    <a:alpha val="99000"/>
                  </a:srgbClr>
                </a:solidFill>
                <a:latin typeface="Inter" pitchFamily="34" charset="0"/>
                <a:ea typeface="Inter" pitchFamily="34" charset="-122"/>
                <a:cs typeface="Inter" pitchFamily="34" charset="-120"/>
              </a:rPr>
              <a:t>Tech</a:t>
            </a:r>
            <a:endParaRPr lang="en-US" sz="1140" dirty="0"/>
          </a:p>
        </p:txBody>
      </p:sp>
      <p:sp>
        <p:nvSpPr>
          <p:cNvPr id="7" name="Text 4"/>
          <p:cNvSpPr/>
          <p:nvPr/>
        </p:nvSpPr>
        <p:spPr>
          <a:xfrm>
            <a:off x="628650" y="981075"/>
            <a:ext cx="4819650" cy="276225"/>
          </a:xfrm>
          <a:prstGeom prst="rect">
            <a:avLst/>
          </a:prstGeom>
          <a:noFill/>
          <a:ln/>
        </p:spPr>
        <p:txBody>
          <a:bodyPr wrap="square" lIns="0" tIns="0" rIns="0" bIns="0" rtlCol="0" anchor="t"/>
          <a:lstStyle/>
          <a:p>
            <a:pPr algn="l" indent="0" marL="0">
              <a:lnSpc>
                <a:spcPts val="2052"/>
              </a:lnSpc>
              <a:buNone/>
            </a:pPr>
            <a:r>
              <a:rPr lang="en-US" sz="1710" spc="-51" kern="0" dirty="0">
                <a:solidFill>
                  <a:srgbClr val="000000">
                    <a:alpha val="99000"/>
                  </a:srgbClr>
                </a:solidFill>
                <a:latin typeface="Inter" pitchFamily="34" charset="0"/>
                <a:ea typeface="Inter" pitchFamily="34" charset="-122"/>
                <a:cs typeface="Inter" pitchFamily="34" charset="-120"/>
              </a:rPr>
              <a:t>Skills used from class</a:t>
            </a:r>
            <a:endParaRPr lang="en-US" sz="1710" dirty="0"/>
          </a:p>
        </p:txBody>
      </p:sp>
      <p:sp>
        <p:nvSpPr>
          <p:cNvPr id="8" name="Text 5"/>
          <p:cNvSpPr/>
          <p:nvPr/>
        </p:nvSpPr>
        <p:spPr>
          <a:xfrm>
            <a:off x="4786313" y="2614613"/>
            <a:ext cx="3810000" cy="1628775"/>
          </a:xfrm>
          <a:prstGeom prst="rect">
            <a:avLst/>
          </a:prstGeom>
          <a:noFill/>
          <a:ln/>
        </p:spPr>
        <p:txBody>
          <a:bodyPr wrap="square" lIns="0" tIns="0" rIns="0" bIns="0" rtlCol="0" anchor="t"/>
          <a:lstStyle/>
          <a:p>
            <a:pPr algn="l" indent="0" marL="0">
              <a:lnSpc>
                <a:spcPts val="1368"/>
              </a:lnSpc>
              <a:buNone/>
            </a:pPr>
            <a:r>
              <a:rPr lang="en-US" sz="1140" spc="-34" kern="0" dirty="0">
                <a:solidFill>
                  <a:srgbClr val="8BAFAC">
                    <a:alpha val="99000"/>
                  </a:srgbClr>
                </a:solidFill>
                <a:latin typeface="Inter" pitchFamily="34" charset="0"/>
                <a:ea typeface="Inter" pitchFamily="34" charset="-122"/>
                <a:cs typeface="Inter" pitchFamily="34" charset="-120"/>
              </a:rPr>
              <a:t>This piece pulls together several skills from the semester of communications Lab and Creative Computing. p5.js drives the visuals and audio transitions. Web serial connects the Arduino and the browser. Sensor mapping translates pressure into changes in color, brightness, and sound energy. On the fabrication side, there’s the layered acrylic hand, the hidden sensor and LEDs, and the way the surface is designed to feel like an object you want to touch.</a:t>
            </a:r>
            <a:endParaRPr lang="en-US" sz="114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628650" y="1671638"/>
            <a:ext cx="4062412" cy="3267075"/>
          </a:xfrm>
          <a:prstGeom prst="rect">
            <a:avLst/>
          </a:prstGeom>
          <a:noFill/>
          <a:ln/>
        </p:spPr>
      </p:sp>
      <p:sp>
        <p:nvSpPr>
          <p:cNvPr id="4" name="Shape 1"/>
          <p:cNvSpPr/>
          <p:nvPr/>
        </p:nvSpPr>
        <p:spPr>
          <a:xfrm>
            <a:off x="628650" y="1671638"/>
            <a:ext cx="4062412" cy="3267075"/>
          </a:xfrm>
          <a:prstGeom prst="rect">
            <a:avLst/>
          </a:prstGeom>
          <a:noFill/>
          <a:ln/>
        </p:spPr>
      </p:sp>
      <p:sp>
        <p:nvSpPr>
          <p:cNvPr id="5" name="Text 2"/>
          <p:cNvSpPr/>
          <p:nvPr/>
        </p:nvSpPr>
        <p:spPr>
          <a:xfrm>
            <a:off x="628650" y="1671638"/>
            <a:ext cx="3705225" cy="3267075"/>
          </a:xfrm>
          <a:prstGeom prst="rect">
            <a:avLst/>
          </a:prstGeom>
          <a:noFill/>
          <a:ln/>
        </p:spPr>
        <p:txBody>
          <a:bodyPr wrap="square" lIns="0" tIns="0" rIns="0" bIns="0" rtlCol="0" anchor="ctr"/>
          <a:lstStyle/>
          <a:p>
            <a:pPr algn="l" marL="342900" indent="-342900">
              <a:lnSpc>
                <a:spcPts val="1744"/>
              </a:lnSpc>
              <a:buSzPct val="100000"/>
              <a:buChar char="•"/>
            </a:pPr>
            <a:r>
              <a:rPr lang="en-US" sz="1283" spc="-38" kern="0" dirty="0">
                <a:solidFill>
                  <a:srgbClr val="000000">
                    <a:alpha val="99000"/>
                  </a:srgbClr>
                </a:solidFill>
                <a:latin typeface="Inter" pitchFamily="34" charset="0"/>
                <a:ea typeface="Inter" pitchFamily="34" charset="-122"/>
                <a:cs typeface="Inter" pitchFamily="34" charset="-120"/>
              </a:rPr>
              <a:t>Serial data was inconsistent, fragmented, or not printing at all</a:t>
            </a:r>
            <a:endParaRPr lang="en-US" sz="1283" dirty="0"/>
          </a:p>
          <a:p>
            <a:pPr algn="l" marL="342900" indent="-342900">
              <a:lnSpc>
                <a:spcPts val="1744"/>
              </a:lnSpc>
              <a:buSzPct val="100000"/>
              <a:buChar char="•"/>
            </a:pPr>
            <a:r>
              <a:rPr lang="en-US" sz="1283" spc="-38" kern="0" dirty="0">
                <a:solidFill>
                  <a:srgbClr val="000000">
                    <a:alpha val="99000"/>
                  </a:srgbClr>
                </a:solidFill>
                <a:latin typeface="Inter" pitchFamily="34" charset="0"/>
                <a:ea typeface="Inter" pitchFamily="34" charset="-122"/>
                <a:cs typeface="Inter" pitchFamily="34" charset="-120"/>
              </a:rPr>
              <a:t>Ports wouldn’t appear or refused to open in the browser</a:t>
            </a:r>
            <a:endParaRPr lang="en-US" sz="1283" dirty="0"/>
          </a:p>
          <a:p>
            <a:pPr algn="l" marL="342900" indent="-342900">
              <a:lnSpc>
                <a:spcPts val="1744"/>
              </a:lnSpc>
              <a:buSzPct val="100000"/>
              <a:buChar char="•"/>
            </a:pPr>
            <a:r>
              <a:rPr lang="en-US" sz="1283" spc="-38" kern="0" dirty="0">
                <a:solidFill>
                  <a:srgbClr val="000000">
                    <a:alpha val="99000"/>
                  </a:srgbClr>
                </a:solidFill>
                <a:latin typeface="Inter" pitchFamily="34" charset="0"/>
                <a:ea typeface="Inter" pitchFamily="34" charset="-122"/>
                <a:cs typeface="Inter" pitchFamily="34" charset="-120"/>
              </a:rPr>
              <a:t>Older WebSerial libraries caused freezes + undefined variables</a:t>
            </a:r>
            <a:endParaRPr lang="en-US" sz="1283" dirty="0"/>
          </a:p>
          <a:p>
            <a:pPr algn="l" marL="342900" indent="-342900">
              <a:lnSpc>
                <a:spcPts val="1744"/>
              </a:lnSpc>
              <a:buSzPct val="100000"/>
              <a:buChar char="•"/>
            </a:pPr>
            <a:r>
              <a:rPr lang="en-US" sz="1283" spc="-38" kern="0" dirty="0">
                <a:solidFill>
                  <a:srgbClr val="000000">
                    <a:alpha val="99000"/>
                  </a:srgbClr>
                </a:solidFill>
                <a:latin typeface="Inter" pitchFamily="34" charset="0"/>
                <a:ea typeface="Inter" pitchFamily="34" charset="-122"/>
                <a:cs typeface="Inter" pitchFamily="34" charset="-120"/>
              </a:rPr>
              <a:t>FSR values merged together (ex: “324335412” instead of single readings)</a:t>
            </a:r>
            <a:endParaRPr lang="en-US" sz="1283" dirty="0"/>
          </a:p>
          <a:p>
            <a:pPr algn="l" marL="342900" indent="-342900">
              <a:lnSpc>
                <a:spcPts val="1744"/>
              </a:lnSpc>
              <a:buSzPct val="100000"/>
              <a:buChar char="•"/>
            </a:pPr>
            <a:r>
              <a:rPr lang="en-US" sz="1283" spc="-38" kern="0" dirty="0">
                <a:solidFill>
                  <a:srgbClr val="000000">
                    <a:alpha val="99000"/>
                  </a:srgbClr>
                </a:solidFill>
                <a:latin typeface="Inter" pitchFamily="34" charset="0"/>
                <a:ea typeface="Inter" pitchFamily="34" charset="-122"/>
                <a:cs typeface="Inter" pitchFamily="34" charset="-120"/>
              </a:rPr>
              <a:t>p5.js visuals received NaN, causing the canvas to not draw</a:t>
            </a:r>
            <a:endParaRPr lang="en-US" sz="1283" dirty="0"/>
          </a:p>
          <a:p>
            <a:pPr algn="l" marL="342900" indent="-342900">
              <a:lnSpc>
                <a:spcPts val="1744"/>
              </a:lnSpc>
              <a:buSzPct val="100000"/>
              <a:buChar char="•"/>
            </a:pPr>
            <a:r>
              <a:rPr lang="en-US" sz="1283" spc="-38" kern="0" dirty="0">
                <a:solidFill>
                  <a:srgbClr val="000000">
                    <a:alpha val="99000"/>
                  </a:srgbClr>
                </a:solidFill>
                <a:latin typeface="Inter" pitchFamily="34" charset="0"/>
                <a:ea typeface="Inter" pitchFamily="34" charset="-122"/>
                <a:cs typeface="Inter" pitchFamily="34" charset="-120"/>
              </a:rPr>
              <a:t>Audio couldn’t start because it depended on valid sensor input</a:t>
            </a:r>
            <a:endParaRPr lang="en-US" sz="1283" dirty="0"/>
          </a:p>
          <a:p>
            <a:pPr algn="l" marL="342900" indent="-342900">
              <a:lnSpc>
                <a:spcPts val="1744"/>
              </a:lnSpc>
              <a:buSzPct val="100000"/>
              <a:buChar char="•"/>
            </a:pPr>
            <a:r>
              <a:rPr lang="en-US" sz="1283" spc="-38" kern="0" dirty="0">
                <a:solidFill>
                  <a:srgbClr val="000000">
                    <a:alpha val="99000"/>
                  </a:srgbClr>
                </a:solidFill>
                <a:latin typeface="Inter" pitchFamily="34" charset="0"/>
                <a:ea typeface="Inter" pitchFamily="34" charset="-122"/>
                <a:cs typeface="Inter" pitchFamily="34" charset="-120"/>
              </a:rPr>
              <a:t>Fix: simplified Arduino output + rebuilt WebSerial system</a:t>
            </a:r>
            <a:endParaRPr lang="en-US" sz="1283" dirty="0"/>
          </a:p>
        </p:txBody>
      </p:sp>
      <p:pic>
        <p:nvPicPr>
          <p:cNvPr id="6" name="Image 0" descr="preencoded.png">    </p:cNvPr>
          <p:cNvPicPr>
            <a:picLocks noChangeAspect="1"/>
          </p:cNvPicPr>
          <p:nvPr/>
        </p:nvPicPr>
        <p:blipFill>
          <a:blip r:embed="rId1"/>
          <a:srcRect l="0" r="0" t="0" b="0"/>
          <a:stretch/>
        </p:blipFill>
        <p:spPr>
          <a:xfrm>
            <a:off x="0" y="4838700"/>
            <a:ext cx="9144000" cy="304800"/>
          </a:xfrm>
          <a:prstGeom prst="rect">
            <a:avLst/>
          </a:prstGeom>
        </p:spPr>
      </p:pic>
      <p:sp>
        <p:nvSpPr>
          <p:cNvPr id="7" name="Text 3"/>
          <p:cNvSpPr/>
          <p:nvPr/>
        </p:nvSpPr>
        <p:spPr>
          <a:xfrm>
            <a:off x="628650" y="628650"/>
            <a:ext cx="4819650" cy="180975"/>
          </a:xfrm>
          <a:prstGeom prst="rect">
            <a:avLst/>
          </a:prstGeom>
          <a:noFill/>
          <a:ln/>
        </p:spPr>
        <p:txBody>
          <a:bodyPr wrap="square" lIns="0" tIns="0" rIns="0" bIns="0" rtlCol="0" anchor="t"/>
          <a:lstStyle/>
          <a:p>
            <a:pPr algn="l" indent="0" marL="0">
              <a:lnSpc>
                <a:spcPts val="1368"/>
              </a:lnSpc>
              <a:buNone/>
            </a:pPr>
            <a:r>
              <a:rPr lang="en-US" sz="1140" spc="-34" kern="0" dirty="0">
                <a:solidFill>
                  <a:srgbClr val="000000">
                    <a:alpha val="99000"/>
                  </a:srgbClr>
                </a:solidFill>
                <a:latin typeface="Inter" pitchFamily="34" charset="0"/>
                <a:ea typeface="Inter" pitchFamily="34" charset="-122"/>
                <a:cs typeface="Inter" pitchFamily="34" charset="-120"/>
              </a:rPr>
              <a:t>Tech</a:t>
            </a:r>
            <a:endParaRPr lang="en-US" sz="1140" dirty="0"/>
          </a:p>
        </p:txBody>
      </p:sp>
      <p:sp>
        <p:nvSpPr>
          <p:cNvPr id="8" name="Text 4"/>
          <p:cNvSpPr/>
          <p:nvPr/>
        </p:nvSpPr>
        <p:spPr>
          <a:xfrm>
            <a:off x="628650" y="981075"/>
            <a:ext cx="4819650" cy="276225"/>
          </a:xfrm>
          <a:prstGeom prst="rect">
            <a:avLst/>
          </a:prstGeom>
          <a:noFill/>
          <a:ln/>
        </p:spPr>
        <p:txBody>
          <a:bodyPr wrap="square" lIns="0" tIns="0" rIns="0" bIns="0" rtlCol="0" anchor="t"/>
          <a:lstStyle/>
          <a:p>
            <a:pPr algn="l" indent="0" marL="0">
              <a:lnSpc>
                <a:spcPts val="2052"/>
              </a:lnSpc>
              <a:buNone/>
            </a:pPr>
            <a:r>
              <a:rPr lang="en-US" sz="1710" spc="-51" kern="0" dirty="0">
                <a:solidFill>
                  <a:srgbClr val="000000">
                    <a:alpha val="99000"/>
                  </a:srgbClr>
                </a:solidFill>
                <a:latin typeface="Inter" pitchFamily="34" charset="0"/>
                <a:ea typeface="Inter" pitchFamily="34" charset="-122"/>
                <a:cs typeface="Inter" pitchFamily="34" charset="-120"/>
              </a:rPr>
              <a:t>Fixing the Arduino + p5.js Connection</a:t>
            </a:r>
            <a:endParaRPr lang="en-US" sz="1710" dirty="0"/>
          </a:p>
        </p:txBody>
      </p:sp>
      <p:sp>
        <p:nvSpPr>
          <p:cNvPr id="9" name="Text 5"/>
          <p:cNvSpPr/>
          <p:nvPr/>
        </p:nvSpPr>
        <p:spPr>
          <a:xfrm>
            <a:off x="5167313" y="2095500"/>
            <a:ext cx="3810000" cy="1628775"/>
          </a:xfrm>
          <a:prstGeom prst="rect">
            <a:avLst/>
          </a:prstGeom>
          <a:noFill/>
          <a:ln/>
        </p:spPr>
        <p:txBody>
          <a:bodyPr wrap="square" lIns="0" tIns="0" rIns="0" bIns="0" rtlCol="0" anchor="t"/>
          <a:lstStyle/>
          <a:p>
            <a:pPr algn="l" indent="0" marL="0">
              <a:lnSpc>
                <a:spcPts val="1368"/>
              </a:lnSpc>
              <a:buNone/>
            </a:pPr>
            <a:r>
              <a:rPr lang="en-US" sz="1140" spc="-34" kern="0" dirty="0">
                <a:solidFill>
                  <a:srgbClr val="8BAFAC">
                    <a:alpha val="99000"/>
                  </a:srgbClr>
                </a:solidFill>
                <a:latin typeface="Inter" pitchFamily="34" charset="0"/>
                <a:ea typeface="Inter" pitchFamily="34" charset="-122"/>
                <a:cs typeface="Inter" pitchFamily="34" charset="-120"/>
              </a:rPr>
              <a:t>The Arduino and p5.js connection kept breaking because the serial data was inconsistent, merged, or not printing at all. Ports wouldn’t open, older WebSerial libraries froze, and p5.js kept receiving invalid values that broke the visuals and audio. I fixed this by simplifying the Arduino output to one clean reading and rebuilding the serial system with P5SerialLite, which stabilized the data flow and made the interaction responsive and intentional</a:t>
            </a:r>
            <a:endParaRPr lang="en-US" sz="114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28650" y="1671638"/>
            <a:ext cx="3481388" cy="1400175"/>
          </a:xfrm>
          <a:prstGeom prst="rect">
            <a:avLst/>
          </a:prstGeom>
          <a:noFill/>
          <a:ln/>
        </p:spPr>
      </p:sp>
      <p:sp>
        <p:nvSpPr>
          <p:cNvPr id="3" name="Shape 1"/>
          <p:cNvSpPr/>
          <p:nvPr/>
        </p:nvSpPr>
        <p:spPr>
          <a:xfrm>
            <a:off x="628650" y="1671638"/>
            <a:ext cx="3076575" cy="1400175"/>
          </a:xfrm>
          <a:prstGeom prst="rect">
            <a:avLst/>
          </a:prstGeom>
          <a:noFill/>
          <a:ln/>
        </p:spPr>
      </p:sp>
      <p:sp>
        <p:nvSpPr>
          <p:cNvPr id="4" name="Text 2"/>
          <p:cNvSpPr/>
          <p:nvPr/>
        </p:nvSpPr>
        <p:spPr>
          <a:xfrm>
            <a:off x="628650" y="1671638"/>
            <a:ext cx="3076575" cy="1400175"/>
          </a:xfrm>
          <a:prstGeom prst="rect">
            <a:avLst/>
          </a:prstGeom>
          <a:noFill/>
          <a:ln/>
        </p:spPr>
        <p:txBody>
          <a:bodyPr wrap="square" lIns="0" tIns="0" rIns="0" bIns="0" rtlCol="0" anchor="ctr"/>
          <a:lstStyle/>
          <a:p>
            <a:pPr algn="l" marL="342900" indent="-342900">
              <a:lnSpc>
                <a:spcPts val="1744"/>
              </a:lnSpc>
              <a:buSzPct val="100000"/>
              <a:buChar char="•"/>
            </a:pPr>
            <a:r>
              <a:rPr lang="en-US" sz="1283" spc="-38" kern="0" dirty="0">
                <a:solidFill>
                  <a:srgbClr val="000000">
                    <a:alpha val="99000"/>
                  </a:srgbClr>
                </a:solidFill>
                <a:latin typeface="Inter" pitchFamily="34" charset="0"/>
                <a:ea typeface="Inter" pitchFamily="34" charset="-122"/>
                <a:cs typeface="Inter" pitchFamily="34" charset="-120"/>
              </a:rPr>
              <a:t>Ambient state: soft gradients, slow movement, low saturation</a:t>
            </a:r>
            <a:endParaRPr lang="en-US" sz="1283" dirty="0"/>
          </a:p>
          <a:p>
            <a:pPr algn="l" marL="342900" indent="-342900">
              <a:lnSpc>
                <a:spcPts val="1744"/>
              </a:lnSpc>
              <a:buSzPct val="100000"/>
              <a:buChar char="•"/>
            </a:pPr>
            <a:r>
              <a:rPr lang="en-US" sz="1283" spc="-38" kern="0" dirty="0">
                <a:solidFill>
                  <a:srgbClr val="000000">
                    <a:alpha val="99000"/>
                  </a:srgbClr>
                </a:solidFill>
                <a:latin typeface="Inter" pitchFamily="34" charset="0"/>
                <a:ea typeface="Inter" pitchFamily="34" charset="-122"/>
                <a:cs typeface="Inter" pitchFamily="34" charset="-120"/>
              </a:rPr>
              <a:t>Intense state: tunnel effects, kaleidoscopes, glitchy motion</a:t>
            </a:r>
            <a:endParaRPr lang="en-US" sz="1283" dirty="0"/>
          </a:p>
          <a:p>
            <a:pPr algn="l" marL="342900" indent="-342900">
              <a:lnSpc>
                <a:spcPts val="1744"/>
              </a:lnSpc>
              <a:buSzPct val="100000"/>
              <a:buChar char="•"/>
            </a:pPr>
            <a:r>
              <a:rPr lang="en-US" sz="1283" spc="-38" kern="0" dirty="0">
                <a:solidFill>
                  <a:srgbClr val="000000">
                    <a:alpha val="99000"/>
                  </a:srgbClr>
                </a:solidFill>
                <a:latin typeface="Inter" pitchFamily="34" charset="0"/>
                <a:ea typeface="Inter" pitchFamily="34" charset="-122"/>
                <a:cs typeface="Inter" pitchFamily="34" charset="-120"/>
              </a:rPr>
              <a:t>Color shifts tied to pressure and song energy</a:t>
            </a:r>
            <a:endParaRPr lang="en-US" sz="1283" dirty="0"/>
          </a:p>
        </p:txBody>
      </p:sp>
      <p:pic>
        <p:nvPicPr>
          <p:cNvPr id="5" name="Image 0" descr="preencoded.png">    </p:cNvPr>
          <p:cNvPicPr>
            <a:picLocks noChangeAspect="1"/>
          </p:cNvPicPr>
          <p:nvPr/>
        </p:nvPicPr>
        <p:blipFill>
          <a:blip r:embed="rId1"/>
          <a:srcRect l="0" r="0" t="0" b="0"/>
          <a:stretch/>
        </p:blipFill>
        <p:spPr>
          <a:xfrm>
            <a:off x="0" y="4838700"/>
            <a:ext cx="9144000" cy="304800"/>
          </a:xfrm>
          <a:prstGeom prst="rect">
            <a:avLst/>
          </a:prstGeom>
        </p:spPr>
      </p:pic>
      <p:sp>
        <p:nvSpPr>
          <p:cNvPr id="6" name="Text 3"/>
          <p:cNvSpPr/>
          <p:nvPr/>
        </p:nvSpPr>
        <p:spPr>
          <a:xfrm>
            <a:off x="628650" y="628650"/>
            <a:ext cx="4819650" cy="180975"/>
          </a:xfrm>
          <a:prstGeom prst="rect">
            <a:avLst/>
          </a:prstGeom>
          <a:noFill/>
          <a:ln/>
        </p:spPr>
        <p:txBody>
          <a:bodyPr wrap="square" lIns="0" tIns="0" rIns="0" bIns="0" rtlCol="0" anchor="t"/>
          <a:lstStyle/>
          <a:p>
            <a:pPr algn="l" indent="0" marL="0">
              <a:lnSpc>
                <a:spcPts val="1368"/>
              </a:lnSpc>
              <a:buNone/>
            </a:pPr>
            <a:r>
              <a:rPr lang="en-US" sz="1140" spc="-34" kern="0" dirty="0">
                <a:solidFill>
                  <a:srgbClr val="000000">
                    <a:alpha val="99000"/>
                  </a:srgbClr>
                </a:solidFill>
                <a:latin typeface="Inter" pitchFamily="34" charset="0"/>
                <a:ea typeface="Inter" pitchFamily="34" charset="-122"/>
                <a:cs typeface="Inter" pitchFamily="34" charset="-120"/>
              </a:rPr>
              <a:t>Tech</a:t>
            </a:r>
            <a:endParaRPr lang="en-US" sz="1140" dirty="0"/>
          </a:p>
        </p:txBody>
      </p:sp>
      <p:sp>
        <p:nvSpPr>
          <p:cNvPr id="7" name="Text 4"/>
          <p:cNvSpPr/>
          <p:nvPr/>
        </p:nvSpPr>
        <p:spPr>
          <a:xfrm>
            <a:off x="628650" y="981075"/>
            <a:ext cx="4819650" cy="276225"/>
          </a:xfrm>
          <a:prstGeom prst="rect">
            <a:avLst/>
          </a:prstGeom>
          <a:noFill/>
          <a:ln/>
        </p:spPr>
        <p:txBody>
          <a:bodyPr wrap="square" lIns="0" tIns="0" rIns="0" bIns="0" rtlCol="0" anchor="t"/>
          <a:lstStyle/>
          <a:p>
            <a:pPr algn="l" indent="0" marL="0">
              <a:lnSpc>
                <a:spcPts val="2052"/>
              </a:lnSpc>
              <a:buNone/>
            </a:pPr>
            <a:r>
              <a:rPr lang="en-US" sz="1710" spc="-51" kern="0" dirty="0">
                <a:solidFill>
                  <a:srgbClr val="000000">
                    <a:alpha val="99000"/>
                  </a:srgbClr>
                </a:solidFill>
                <a:latin typeface="Inter" pitchFamily="34" charset="0"/>
                <a:ea typeface="Inter" pitchFamily="34" charset="-122"/>
                <a:cs typeface="Inter" pitchFamily="34" charset="-120"/>
              </a:rPr>
              <a:t>Visual Design and Aesthetic Choices</a:t>
            </a:r>
            <a:endParaRPr lang="en-US" sz="1710" dirty="0"/>
          </a:p>
        </p:txBody>
      </p:sp>
      <p:sp>
        <p:nvSpPr>
          <p:cNvPr id="8" name="Text 5"/>
          <p:cNvSpPr/>
          <p:nvPr/>
        </p:nvSpPr>
        <p:spPr>
          <a:xfrm>
            <a:off x="4776788" y="1966912"/>
            <a:ext cx="3810000" cy="2533650"/>
          </a:xfrm>
          <a:prstGeom prst="rect">
            <a:avLst/>
          </a:prstGeom>
          <a:noFill/>
          <a:ln/>
        </p:spPr>
        <p:txBody>
          <a:bodyPr wrap="square" lIns="0" tIns="0" rIns="0" bIns="0" rtlCol="0" anchor="t"/>
          <a:lstStyle/>
          <a:p>
            <a:pPr algn="l" marL="342900" indent="-342900">
              <a:lnSpc>
                <a:spcPts val="1368"/>
              </a:lnSpc>
              <a:buSzPct val="100000"/>
              <a:buChar char="•"/>
            </a:pPr>
            <a:r>
              <a:rPr lang="en-US" sz="1140" spc="-34" kern="0" dirty="0">
                <a:solidFill>
                  <a:srgbClr val="8BAFAC">
                    <a:alpha val="99000"/>
                  </a:srgbClr>
                </a:solidFill>
                <a:latin typeface="Inter" pitchFamily="34" charset="0"/>
                <a:ea typeface="Inter" pitchFamily="34" charset="-122"/>
                <a:cs typeface="Inter" pitchFamily="34" charset="-120"/>
              </a:rPr>
              <a:t>Connected an FSR to Arduino and sent one clean pressure value at a time.</a:t>
            </a:r>
            <a:endParaRPr lang="en-US" sz="1140" dirty="0"/>
          </a:p>
          <a:p>
            <a:pPr algn="l" marL="342900" indent="-342900">
              <a:lnSpc>
                <a:spcPts val="1368"/>
              </a:lnSpc>
              <a:buSzPct val="100000"/>
              <a:buChar char="•"/>
            </a:pPr>
            <a:r>
              <a:rPr lang="en-US" sz="1140" spc="-34" kern="0" dirty="0">
                <a:solidFill>
                  <a:srgbClr val="8BAFAC">
                    <a:alpha val="99000"/>
                  </a:srgbClr>
                </a:solidFill>
                <a:latin typeface="Inter" pitchFamily="34" charset="0"/>
                <a:ea typeface="Inter" pitchFamily="34" charset="-122"/>
                <a:cs typeface="Inter" pitchFamily="34" charset="-120"/>
              </a:rPr>
              <a:t>Used WebSerial in p5.js to read that value without glitches.</a:t>
            </a:r>
            <a:endParaRPr lang="en-US" sz="1140" dirty="0"/>
          </a:p>
          <a:p>
            <a:pPr algn="l" marL="342900" indent="-342900">
              <a:lnSpc>
                <a:spcPts val="1368"/>
              </a:lnSpc>
              <a:buSzPct val="100000"/>
              <a:buChar char="•"/>
            </a:pPr>
            <a:r>
              <a:rPr lang="en-US" sz="1140" spc="-34" kern="0" dirty="0">
                <a:solidFill>
                  <a:srgbClr val="8BAFAC">
                    <a:alpha val="99000"/>
                  </a:srgbClr>
                </a:solidFill>
                <a:latin typeface="Inter" pitchFamily="34" charset="0"/>
                <a:ea typeface="Inter" pitchFamily="34" charset="-122"/>
                <a:cs typeface="Inter" pitchFamily="34" charset="-120"/>
              </a:rPr>
              <a:t>Mapped the sensor data into a usable pressure level for visuals.</a:t>
            </a:r>
            <a:endParaRPr lang="en-US" sz="1140" dirty="0"/>
          </a:p>
          <a:p>
            <a:pPr algn="l" marL="342900" indent="-342900">
              <a:lnSpc>
                <a:spcPts val="1368"/>
              </a:lnSpc>
              <a:buSzPct val="100000"/>
              <a:buChar char="•"/>
            </a:pPr>
            <a:r>
              <a:rPr lang="en-US" sz="1140" spc="-34" kern="0" dirty="0">
                <a:solidFill>
                  <a:srgbClr val="8BAFAC">
                    <a:alpha val="99000"/>
                  </a:srgbClr>
                </a:solidFill>
                <a:latin typeface="Inter" pitchFamily="34" charset="0"/>
                <a:ea typeface="Inter" pitchFamily="34" charset="-122"/>
                <a:cs typeface="Inter" pitchFamily="34" charset="-120"/>
              </a:rPr>
              <a:t>Designed full-screen, psychedelic animations that react to pressure.</a:t>
            </a:r>
            <a:endParaRPr lang="en-US" sz="1140" dirty="0"/>
          </a:p>
          <a:p>
            <a:pPr algn="l" marL="342900" indent="-342900">
              <a:lnSpc>
                <a:spcPts val="1368"/>
              </a:lnSpc>
              <a:buSzPct val="100000"/>
              <a:buChar char="•"/>
            </a:pPr>
            <a:r>
              <a:rPr lang="en-US" sz="1140" spc="-34" kern="0" dirty="0">
                <a:solidFill>
                  <a:srgbClr val="8BAFAC">
                    <a:alpha val="99000"/>
                  </a:srgbClr>
                </a:solidFill>
                <a:latin typeface="Inter" pitchFamily="34" charset="0"/>
                <a:ea typeface="Inter" pitchFamily="34" charset="-122"/>
                <a:cs typeface="Inter" pitchFamily="34" charset="-120"/>
              </a:rPr>
              <a:t>Light pressure created calm movement; heavy pressure created chaotic motion.</a:t>
            </a:r>
            <a:endParaRPr lang="en-US" sz="1140" dirty="0"/>
          </a:p>
          <a:p>
            <a:pPr algn="l" marL="342900" indent="-342900">
              <a:lnSpc>
                <a:spcPts val="1368"/>
              </a:lnSpc>
              <a:buSzPct val="100000"/>
              <a:buChar char="•"/>
            </a:pPr>
            <a:r>
              <a:rPr lang="en-US" sz="1140" spc="-34" kern="0" dirty="0">
                <a:solidFill>
                  <a:srgbClr val="8BAFAC">
                    <a:alpha val="99000"/>
                  </a:srgbClr>
                </a:solidFill>
                <a:latin typeface="Inter" pitchFamily="34" charset="0"/>
                <a:ea typeface="Inter" pitchFamily="34" charset="-122"/>
                <a:cs typeface="Inter" pitchFamily="34" charset="-120"/>
              </a:rPr>
              <a:t>Fixed earlier serial issues by simplifying Arduino output and stabilizing p5.js parsing.</a:t>
            </a:r>
            <a:endParaRPr lang="en-US" sz="1140" dirty="0"/>
          </a:p>
          <a:p>
            <a:pPr algn="l" marL="342900" indent="-342900">
              <a:lnSpc>
                <a:spcPts val="1368"/>
              </a:lnSpc>
              <a:buSzPct val="100000"/>
              <a:buChar char="•"/>
            </a:pPr>
            <a:r>
              <a:rPr lang="en-US" sz="1140" spc="-34" kern="0" dirty="0">
                <a:solidFill>
                  <a:srgbClr val="8BAFAC">
                    <a:alpha val="99000"/>
                  </a:srgbClr>
                </a:solidFill>
                <a:latin typeface="Inter" pitchFamily="34" charset="0"/>
                <a:ea typeface="Inter" pitchFamily="34" charset="-122"/>
                <a:cs typeface="Inter" pitchFamily="34" charset="-120"/>
              </a:rPr>
              <a:t>Built a smooth, responsive interaction between the robot and the visuals.</a:t>
            </a:r>
            <a:endParaRPr lang="en-US" sz="114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28650" y="1671638"/>
            <a:ext cx="3481388" cy="2333625"/>
          </a:xfrm>
          <a:prstGeom prst="rect">
            <a:avLst/>
          </a:prstGeom>
          <a:noFill/>
          <a:ln/>
        </p:spPr>
      </p:sp>
      <p:sp>
        <p:nvSpPr>
          <p:cNvPr id="3" name="Shape 1"/>
          <p:cNvSpPr/>
          <p:nvPr/>
        </p:nvSpPr>
        <p:spPr>
          <a:xfrm>
            <a:off x="628650" y="1671638"/>
            <a:ext cx="3076575" cy="2333625"/>
          </a:xfrm>
          <a:prstGeom prst="rect">
            <a:avLst/>
          </a:prstGeom>
          <a:noFill/>
          <a:ln/>
        </p:spPr>
      </p:sp>
      <p:sp>
        <p:nvSpPr>
          <p:cNvPr id="4" name="Text 2"/>
          <p:cNvSpPr/>
          <p:nvPr/>
        </p:nvSpPr>
        <p:spPr>
          <a:xfrm>
            <a:off x="628650" y="1671638"/>
            <a:ext cx="3076575" cy="2333625"/>
          </a:xfrm>
          <a:prstGeom prst="rect">
            <a:avLst/>
          </a:prstGeom>
          <a:noFill/>
          <a:ln/>
        </p:spPr>
        <p:txBody>
          <a:bodyPr wrap="square" lIns="0" tIns="0" rIns="0" bIns="0" rtlCol="0" anchor="ctr"/>
          <a:lstStyle/>
          <a:p>
            <a:pPr algn="l" lvl="1" marL="685800" indent="-342900">
              <a:lnSpc>
                <a:spcPts val="1744"/>
              </a:lnSpc>
              <a:buSzPct val="100000"/>
              <a:buChar char="•"/>
            </a:pPr>
            <a:r>
              <a:rPr lang="en-US" sz="1283" spc="-38" kern="0" dirty="0">
                <a:solidFill>
                  <a:srgbClr val="000000">
                    <a:alpha val="99000"/>
                  </a:srgbClr>
                </a:solidFill>
                <a:latin typeface="Inter" pitchFamily="34" charset="0"/>
                <a:ea typeface="Inter" pitchFamily="34" charset="-122"/>
                <a:cs typeface="Inter" pitchFamily="34" charset="-120"/>
              </a:rPr>
              <a:t>Web Serial lets my browser talk directly to the Arduino over USB.</a:t>
            </a:r>
            <a:endParaRPr lang="en-US" sz="1283" dirty="0"/>
          </a:p>
          <a:p>
            <a:pPr algn="l" lvl="1" marL="685800" indent="-342900">
              <a:lnSpc>
                <a:spcPts val="1744"/>
              </a:lnSpc>
              <a:buSzPct val="100000"/>
              <a:buChar char="•"/>
            </a:pPr>
            <a:r>
              <a:rPr lang="en-US" sz="1283" spc="-38" kern="0" dirty="0">
                <a:solidFill>
                  <a:srgbClr val="000000">
                    <a:alpha val="99000"/>
                  </a:srgbClr>
                </a:solidFill>
                <a:latin typeface="Inter" pitchFamily="34" charset="0"/>
                <a:ea typeface="Inter" pitchFamily="34" charset="-122"/>
                <a:cs typeface="Inter" pitchFamily="34" charset="-120"/>
              </a:rPr>
              <a:t>The Arduino sends live pressure data from the sensor into my p5.js sketch.</a:t>
            </a:r>
            <a:endParaRPr lang="en-US" sz="1283" dirty="0"/>
          </a:p>
          <a:p>
            <a:pPr algn="l" lvl="1" marL="685800" indent="-342900">
              <a:lnSpc>
                <a:spcPts val="1744"/>
              </a:lnSpc>
              <a:buSzPct val="100000"/>
              <a:buChar char="•"/>
            </a:pPr>
            <a:r>
              <a:rPr lang="en-US" sz="1283" spc="-38" kern="0" dirty="0">
                <a:solidFill>
                  <a:srgbClr val="000000">
                    <a:alpha val="99000"/>
                  </a:srgbClr>
                </a:solidFill>
                <a:latin typeface="Inter" pitchFamily="34" charset="0"/>
                <a:ea typeface="Inter" pitchFamily="34" charset="-122"/>
                <a:cs typeface="Inter" pitchFamily="34" charset="-120"/>
              </a:rPr>
              <a:t>This turns my hand pressure into a continuous data stream that drives visuals and sound.</a:t>
            </a:r>
            <a:endParaRPr lang="en-US" sz="1283" dirty="0"/>
          </a:p>
        </p:txBody>
      </p:sp>
      <p:pic>
        <p:nvPicPr>
          <p:cNvPr id="5" name="Image 0" descr="preencoded.png">    </p:cNvPr>
          <p:cNvPicPr>
            <a:picLocks noChangeAspect="1"/>
          </p:cNvPicPr>
          <p:nvPr/>
        </p:nvPicPr>
        <p:blipFill>
          <a:blip r:embed="rId1"/>
          <a:srcRect l="0" r="0" t="0" b="0"/>
          <a:stretch/>
        </p:blipFill>
        <p:spPr>
          <a:xfrm>
            <a:off x="0" y="4838700"/>
            <a:ext cx="9144000" cy="304800"/>
          </a:xfrm>
          <a:prstGeom prst="rect">
            <a:avLst/>
          </a:prstGeom>
        </p:spPr>
      </p:pic>
      <p:sp>
        <p:nvSpPr>
          <p:cNvPr id="6" name="Text 3"/>
          <p:cNvSpPr/>
          <p:nvPr/>
        </p:nvSpPr>
        <p:spPr>
          <a:xfrm>
            <a:off x="628650" y="628650"/>
            <a:ext cx="4819650" cy="180975"/>
          </a:xfrm>
          <a:prstGeom prst="rect">
            <a:avLst/>
          </a:prstGeom>
          <a:noFill/>
          <a:ln/>
        </p:spPr>
        <p:txBody>
          <a:bodyPr wrap="square" lIns="0" tIns="0" rIns="0" bIns="0" rtlCol="0" anchor="t"/>
          <a:lstStyle/>
          <a:p>
            <a:pPr algn="l" indent="0" marL="0">
              <a:lnSpc>
                <a:spcPts val="1368"/>
              </a:lnSpc>
              <a:buNone/>
            </a:pPr>
            <a:r>
              <a:rPr lang="en-US" sz="1140" spc="-34" kern="0" dirty="0">
                <a:solidFill>
                  <a:srgbClr val="000000">
                    <a:alpha val="99000"/>
                  </a:srgbClr>
                </a:solidFill>
                <a:latin typeface="Inter" pitchFamily="34" charset="0"/>
                <a:ea typeface="Inter" pitchFamily="34" charset="-122"/>
                <a:cs typeface="Inter" pitchFamily="34" charset="-120"/>
              </a:rPr>
              <a:t>Tech</a:t>
            </a:r>
            <a:endParaRPr lang="en-US" sz="1140" dirty="0"/>
          </a:p>
        </p:txBody>
      </p:sp>
      <p:sp>
        <p:nvSpPr>
          <p:cNvPr id="7" name="Text 4"/>
          <p:cNvSpPr/>
          <p:nvPr/>
        </p:nvSpPr>
        <p:spPr>
          <a:xfrm>
            <a:off x="628650" y="981075"/>
            <a:ext cx="4819650" cy="276225"/>
          </a:xfrm>
          <a:prstGeom prst="rect">
            <a:avLst/>
          </a:prstGeom>
          <a:noFill/>
          <a:ln/>
        </p:spPr>
        <p:txBody>
          <a:bodyPr wrap="square" lIns="0" tIns="0" rIns="0" bIns="0" rtlCol="0" anchor="t"/>
          <a:lstStyle/>
          <a:p>
            <a:pPr algn="l" indent="0" marL="0">
              <a:lnSpc>
                <a:spcPts val="2052"/>
              </a:lnSpc>
              <a:buNone/>
            </a:pPr>
            <a:r>
              <a:rPr lang="en-US" sz="1710" spc="-51" kern="0" dirty="0">
                <a:solidFill>
                  <a:srgbClr val="000000">
                    <a:alpha val="99000"/>
                  </a:srgbClr>
                </a:solidFill>
                <a:latin typeface="Inter" pitchFamily="34" charset="0"/>
                <a:ea typeface="Inter" pitchFamily="34" charset="-122"/>
                <a:cs typeface="Inter" pitchFamily="34" charset="-120"/>
              </a:rPr>
              <a:t>Web Serial: Connecting the Body</a:t>
            </a:r>
            <a:endParaRPr lang="en-US" sz="1710" dirty="0"/>
          </a:p>
        </p:txBody>
      </p:sp>
      <p:pic>
        <p:nvPicPr>
          <p:cNvPr id="8" name="Image 1" descr="preencoded.png">    </p:cNvPr>
          <p:cNvPicPr>
            <a:picLocks noChangeAspect="1"/>
          </p:cNvPicPr>
          <p:nvPr/>
        </p:nvPicPr>
        <p:blipFill>
          <a:blip r:embed="rId2"/>
          <a:srcRect l="0" r="0" t="0" b="0"/>
          <a:stretch/>
        </p:blipFill>
        <p:spPr>
          <a:xfrm>
            <a:off x="5662613" y="481012"/>
            <a:ext cx="2852738" cy="1604963"/>
          </a:xfrm>
          <a:prstGeom prst="rect">
            <a:avLst/>
          </a:prstGeom>
        </p:spPr>
      </p:pic>
      <p:sp>
        <p:nvSpPr>
          <p:cNvPr id="9" name="Text 5"/>
          <p:cNvSpPr/>
          <p:nvPr/>
        </p:nvSpPr>
        <p:spPr>
          <a:xfrm>
            <a:off x="4786313" y="2614613"/>
            <a:ext cx="3810000" cy="1085850"/>
          </a:xfrm>
          <a:prstGeom prst="rect">
            <a:avLst/>
          </a:prstGeom>
          <a:noFill/>
          <a:ln/>
        </p:spPr>
        <p:txBody>
          <a:bodyPr wrap="square" lIns="0" tIns="0" rIns="0" bIns="0" rtlCol="0" anchor="t"/>
          <a:lstStyle/>
          <a:p>
            <a:pPr algn="l" indent="0" marL="0">
              <a:lnSpc>
                <a:spcPts val="1368"/>
              </a:lnSpc>
              <a:buNone/>
            </a:pPr>
            <a:r>
              <a:rPr lang="en-US" sz="1140" spc="-34" kern="0" dirty="0">
                <a:solidFill>
                  <a:srgbClr val="8BAFAC">
                    <a:alpha val="99000"/>
                  </a:srgbClr>
                </a:solidFill>
                <a:latin typeface="Inter" pitchFamily="34" charset="0"/>
                <a:ea typeface="Inter" pitchFamily="34" charset="-122"/>
                <a:cs typeface="Inter" pitchFamily="34" charset="-120"/>
              </a:rPr>
              <a:t>Web Serial is what connects the physical side of this project to the digital side. The Arduino reads the force sensor and sends those values straight into the browser, in real time. That live stream of numbers is what lets my hand pressure directly reshape the visuals and the music instead of playing a pre-rendered video.</a:t>
            </a:r>
            <a:endParaRPr lang="en-US" sz="114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28650" y="1671638"/>
            <a:ext cx="3481388" cy="2800350"/>
          </a:xfrm>
          <a:prstGeom prst="rect">
            <a:avLst/>
          </a:prstGeom>
          <a:noFill/>
          <a:ln/>
        </p:spPr>
      </p:sp>
      <p:sp>
        <p:nvSpPr>
          <p:cNvPr id="3" name="Shape 1"/>
          <p:cNvSpPr/>
          <p:nvPr/>
        </p:nvSpPr>
        <p:spPr>
          <a:xfrm>
            <a:off x="628650" y="1671638"/>
            <a:ext cx="3076575" cy="2800350"/>
          </a:xfrm>
          <a:prstGeom prst="rect">
            <a:avLst/>
          </a:prstGeom>
          <a:noFill/>
          <a:ln/>
        </p:spPr>
      </p:sp>
      <p:sp>
        <p:nvSpPr>
          <p:cNvPr id="4" name="Text 2"/>
          <p:cNvSpPr/>
          <p:nvPr/>
        </p:nvSpPr>
        <p:spPr>
          <a:xfrm>
            <a:off x="628650" y="1671638"/>
            <a:ext cx="3076575" cy="2800350"/>
          </a:xfrm>
          <a:prstGeom prst="rect">
            <a:avLst/>
          </a:prstGeom>
          <a:noFill/>
          <a:ln/>
        </p:spPr>
        <p:txBody>
          <a:bodyPr wrap="square" lIns="0" tIns="0" rIns="0" bIns="0" rtlCol="0" anchor="ctr"/>
          <a:lstStyle/>
          <a:p>
            <a:pPr algn="l" marL="342900" indent="-342900">
              <a:lnSpc>
                <a:spcPts val="1744"/>
              </a:lnSpc>
              <a:buSzPct val="100000"/>
              <a:buChar char="•"/>
            </a:pPr>
            <a:r>
              <a:rPr lang="en-US" sz="1283" spc="-38" kern="0" dirty="0">
                <a:solidFill>
                  <a:srgbClr val="000000">
                    <a:alpha val="99000"/>
                  </a:srgbClr>
                </a:solidFill>
                <a:latin typeface="Inter" pitchFamily="34" charset="0"/>
                <a:ea typeface="Inter" pitchFamily="34" charset="-122"/>
                <a:cs typeface="Inter" pitchFamily="34" charset="-120"/>
              </a:rPr>
              <a:t>Modern Web Serial APIs change quickly and required troubleshooting.</a:t>
            </a:r>
            <a:endParaRPr lang="en-US" sz="1283" dirty="0"/>
          </a:p>
          <a:p>
            <a:pPr algn="l" marL="342900" indent="-342900">
              <a:lnSpc>
                <a:spcPts val="1744"/>
              </a:lnSpc>
              <a:buSzPct val="100000"/>
              <a:buChar char="•"/>
            </a:pPr>
            <a:r>
              <a:rPr lang="en-US" sz="1283" spc="-38" kern="0" dirty="0">
                <a:solidFill>
                  <a:srgbClr val="000000">
                    <a:alpha val="99000"/>
                  </a:srgbClr>
                </a:solidFill>
                <a:latin typeface="Inter" pitchFamily="34" charset="0"/>
                <a:ea typeface="Inter" pitchFamily="34" charset="-122"/>
                <a:cs typeface="Inter" pitchFamily="34" charset="-120"/>
              </a:rPr>
              <a:t>I had to manage port states, errors, and reconnects, not just happy paths.</a:t>
            </a:r>
            <a:endParaRPr lang="en-US" sz="1283" dirty="0"/>
          </a:p>
          <a:p>
            <a:pPr algn="l" marL="342900" indent="-342900">
              <a:lnSpc>
                <a:spcPts val="1744"/>
              </a:lnSpc>
              <a:buSzPct val="100000"/>
              <a:buChar char="•"/>
            </a:pPr>
            <a:r>
              <a:rPr lang="en-US" sz="1283" spc="-38" kern="0" dirty="0">
                <a:solidFill>
                  <a:srgbClr val="000000">
                    <a:alpha val="99000"/>
                  </a:srgbClr>
                </a:solidFill>
                <a:latin typeface="Inter" pitchFamily="34" charset="0"/>
                <a:ea typeface="Inter" pitchFamily="34" charset="-122"/>
                <a:cs typeface="Inter" pitchFamily="34" charset="-120"/>
              </a:rPr>
              <a:t>Working through that taught me how fragile live interactive systems can be, and how to design around that.</a:t>
            </a:r>
            <a:endParaRPr lang="en-US" sz="1283" dirty="0"/>
          </a:p>
        </p:txBody>
      </p:sp>
      <p:pic>
        <p:nvPicPr>
          <p:cNvPr id="5" name="Image 0" descr="preencoded.png">    </p:cNvPr>
          <p:cNvPicPr>
            <a:picLocks noChangeAspect="1"/>
          </p:cNvPicPr>
          <p:nvPr/>
        </p:nvPicPr>
        <p:blipFill>
          <a:blip r:embed="rId1"/>
          <a:srcRect l="0" r="0" t="0" b="0"/>
          <a:stretch/>
        </p:blipFill>
        <p:spPr>
          <a:xfrm>
            <a:off x="0" y="4838700"/>
            <a:ext cx="9144000" cy="304800"/>
          </a:xfrm>
          <a:prstGeom prst="rect">
            <a:avLst/>
          </a:prstGeom>
        </p:spPr>
      </p:pic>
      <p:sp>
        <p:nvSpPr>
          <p:cNvPr id="6" name="Text 3"/>
          <p:cNvSpPr/>
          <p:nvPr/>
        </p:nvSpPr>
        <p:spPr>
          <a:xfrm>
            <a:off x="628650" y="628650"/>
            <a:ext cx="4819650" cy="180975"/>
          </a:xfrm>
          <a:prstGeom prst="rect">
            <a:avLst/>
          </a:prstGeom>
          <a:noFill/>
          <a:ln/>
        </p:spPr>
        <p:txBody>
          <a:bodyPr wrap="square" lIns="0" tIns="0" rIns="0" bIns="0" rtlCol="0" anchor="t"/>
          <a:lstStyle/>
          <a:p>
            <a:pPr algn="l" indent="0" marL="0">
              <a:lnSpc>
                <a:spcPts val="1368"/>
              </a:lnSpc>
              <a:buNone/>
            </a:pPr>
            <a:r>
              <a:rPr lang="en-US" sz="1140" spc="-34" kern="0" dirty="0">
                <a:solidFill>
                  <a:srgbClr val="000000">
                    <a:alpha val="99000"/>
                  </a:srgbClr>
                </a:solidFill>
                <a:latin typeface="Inter" pitchFamily="34" charset="0"/>
                <a:ea typeface="Inter" pitchFamily="34" charset="-122"/>
                <a:cs typeface="Inter" pitchFamily="34" charset="-120"/>
              </a:rPr>
              <a:t>Tech</a:t>
            </a:r>
            <a:endParaRPr lang="en-US" sz="1140" dirty="0"/>
          </a:p>
        </p:txBody>
      </p:sp>
      <p:sp>
        <p:nvSpPr>
          <p:cNvPr id="7" name="Text 4"/>
          <p:cNvSpPr/>
          <p:nvPr/>
        </p:nvSpPr>
        <p:spPr>
          <a:xfrm>
            <a:off x="628650" y="981075"/>
            <a:ext cx="4819650" cy="276225"/>
          </a:xfrm>
          <a:prstGeom prst="rect">
            <a:avLst/>
          </a:prstGeom>
          <a:noFill/>
          <a:ln/>
        </p:spPr>
        <p:txBody>
          <a:bodyPr wrap="square" lIns="0" tIns="0" rIns="0" bIns="0" rtlCol="0" anchor="t"/>
          <a:lstStyle/>
          <a:p>
            <a:pPr algn="l" indent="0" marL="0">
              <a:lnSpc>
                <a:spcPts val="2052"/>
              </a:lnSpc>
              <a:buNone/>
            </a:pPr>
            <a:r>
              <a:rPr lang="en-US" sz="1710" spc="-51" kern="0" dirty="0">
                <a:solidFill>
                  <a:srgbClr val="000000">
                    <a:alpha val="99000"/>
                  </a:srgbClr>
                </a:solidFill>
                <a:latin typeface="Inter" pitchFamily="34" charset="0"/>
                <a:ea typeface="Inter" pitchFamily="34" charset="-122"/>
                <a:cs typeface="Inter" pitchFamily="34" charset="-120"/>
              </a:rPr>
              <a:t>Web Serial: What I Learned </a:t>
            </a:r>
            <a:endParaRPr lang="en-US" sz="1710" dirty="0"/>
          </a:p>
        </p:txBody>
      </p:sp>
      <p:pic>
        <p:nvPicPr>
          <p:cNvPr id="8" name="Image 1" descr="preencoded.png">    </p:cNvPr>
          <p:cNvPicPr>
            <a:picLocks noChangeAspect="1"/>
          </p:cNvPicPr>
          <p:nvPr/>
        </p:nvPicPr>
        <p:blipFill>
          <a:blip r:embed="rId2"/>
          <a:srcRect l="0" r="0" t="0" b="0"/>
          <a:stretch/>
        </p:blipFill>
        <p:spPr>
          <a:xfrm>
            <a:off x="5662613" y="481012"/>
            <a:ext cx="2852738" cy="1604963"/>
          </a:xfrm>
          <a:prstGeom prst="rect">
            <a:avLst/>
          </a:prstGeom>
        </p:spPr>
      </p:pic>
      <p:sp>
        <p:nvSpPr>
          <p:cNvPr id="9" name="Text 5"/>
          <p:cNvSpPr/>
          <p:nvPr/>
        </p:nvSpPr>
        <p:spPr>
          <a:xfrm>
            <a:off x="4786313" y="2614613"/>
            <a:ext cx="3810000" cy="1628775"/>
          </a:xfrm>
          <a:prstGeom prst="rect">
            <a:avLst/>
          </a:prstGeom>
          <a:noFill/>
          <a:ln/>
        </p:spPr>
        <p:txBody>
          <a:bodyPr wrap="square" lIns="0" tIns="0" rIns="0" bIns="0" rtlCol="0" anchor="t"/>
          <a:lstStyle/>
          <a:p>
            <a:pPr algn="l" indent="0" marL="0">
              <a:lnSpc>
                <a:spcPts val="1368"/>
              </a:lnSpc>
              <a:buNone/>
            </a:pPr>
            <a:r>
              <a:rPr lang="en-US" sz="1140" spc="-34" kern="0" dirty="0">
                <a:solidFill>
                  <a:srgbClr val="8BAFAC">
                    <a:alpha val="99000"/>
                  </a:srgbClr>
                </a:solidFill>
                <a:latin typeface="Inter" pitchFamily="34" charset="0"/>
                <a:ea typeface="Inter" pitchFamily="34" charset="-122"/>
                <a:cs typeface="Inter" pitchFamily="34" charset="-120"/>
              </a:rPr>
              <a:t>Working with Web Serial was a big learning curve. Libraries changed, browser behavior changed, and ports would fail or stay open. Dealing with that forced me to think about robustness: what happens if the connection drops, how to recover, and how to still give the user a smooth experience. That is part of the invisible work behind the piece.</a:t>
            </a:r>
            <a:endParaRPr lang="en-US" sz="1140" dirty="0"/>
          </a:p>
          <a:p>
            <a:pPr algn="l" indent="0" marL="0">
              <a:lnSpc>
                <a:spcPts val="1368"/>
              </a:lnSpc>
              <a:buNone/>
            </a:pPr>
            <a:r>
              <a:rPr lang="en-US" sz="1140" spc="-34" kern="0" dirty="0">
                <a:solidFill>
                  <a:srgbClr val="8BAFAC">
                    <a:alpha val="99000"/>
                  </a:srgbClr>
                </a:solidFill>
                <a:latin typeface="Inter" pitchFamily="34" charset="0"/>
                <a:ea typeface="Inter" pitchFamily="34" charset="-122"/>
                <a:cs typeface="Inter" pitchFamily="34" charset="-120"/>
              </a:rPr>
              <a:t>Creds. To Dan O’Sullivan</a:t>
            </a:r>
            <a:endParaRPr lang="en-US" sz="114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4838700"/>
            <a:ext cx="9144000" cy="304800"/>
          </a:xfrm>
          <a:prstGeom prst="rect">
            <a:avLst/>
          </a:prstGeom>
        </p:spPr>
      </p:pic>
      <p:sp>
        <p:nvSpPr>
          <p:cNvPr id="3" name="Text 0"/>
          <p:cNvSpPr/>
          <p:nvPr/>
        </p:nvSpPr>
        <p:spPr>
          <a:xfrm>
            <a:off x="628650" y="628650"/>
            <a:ext cx="4819650" cy="180975"/>
          </a:xfrm>
          <a:prstGeom prst="rect">
            <a:avLst/>
          </a:prstGeom>
          <a:noFill/>
          <a:ln/>
        </p:spPr>
        <p:txBody>
          <a:bodyPr wrap="square" lIns="0" tIns="0" rIns="0" bIns="0" rtlCol="0" anchor="t"/>
          <a:lstStyle/>
          <a:p>
            <a:pPr algn="l" indent="0" marL="0">
              <a:lnSpc>
                <a:spcPts val="1368"/>
              </a:lnSpc>
              <a:buNone/>
            </a:pPr>
            <a:r>
              <a:rPr lang="en-US" sz="1140" spc="-34" kern="0" dirty="0">
                <a:solidFill>
                  <a:srgbClr val="000000">
                    <a:alpha val="99000"/>
                  </a:srgbClr>
                </a:solidFill>
                <a:latin typeface="Inter" pitchFamily="34" charset="0"/>
                <a:ea typeface="Inter" pitchFamily="34" charset="-122"/>
                <a:cs typeface="Inter" pitchFamily="34" charset="-120"/>
              </a:rPr>
              <a:t>UX</a:t>
            </a:r>
            <a:endParaRPr lang="en-US" sz="1140" dirty="0"/>
          </a:p>
        </p:txBody>
      </p:sp>
      <p:sp>
        <p:nvSpPr>
          <p:cNvPr id="4" name="Text 1"/>
          <p:cNvSpPr/>
          <p:nvPr/>
        </p:nvSpPr>
        <p:spPr>
          <a:xfrm>
            <a:off x="628650" y="981075"/>
            <a:ext cx="4819650" cy="276225"/>
          </a:xfrm>
          <a:prstGeom prst="rect">
            <a:avLst/>
          </a:prstGeom>
          <a:noFill/>
          <a:ln/>
        </p:spPr>
        <p:txBody>
          <a:bodyPr wrap="square" lIns="0" tIns="0" rIns="0" bIns="0" rtlCol="0" anchor="t"/>
          <a:lstStyle/>
          <a:p>
            <a:pPr algn="l" indent="0" marL="0">
              <a:lnSpc>
                <a:spcPts val="2052"/>
              </a:lnSpc>
              <a:buNone/>
            </a:pPr>
            <a:r>
              <a:rPr lang="en-US" sz="1710" spc="-51" kern="0" dirty="0">
                <a:solidFill>
                  <a:srgbClr val="000000">
                    <a:alpha val="99000"/>
                  </a:srgbClr>
                </a:solidFill>
                <a:latin typeface="Inter" pitchFamily="34" charset="0"/>
                <a:ea typeface="Inter" pitchFamily="34" charset="-122"/>
                <a:cs typeface="Inter" pitchFamily="34" charset="-120"/>
              </a:rPr>
              <a:t>Arc: Beginning, Middle, End</a:t>
            </a:r>
            <a:endParaRPr lang="en-US" sz="1710" dirty="0"/>
          </a:p>
        </p:txBody>
      </p:sp>
      <p:sp>
        <p:nvSpPr>
          <p:cNvPr id="5" name="Text 2"/>
          <p:cNvSpPr/>
          <p:nvPr/>
        </p:nvSpPr>
        <p:spPr>
          <a:xfrm>
            <a:off x="628650" y="2819400"/>
            <a:ext cx="1652588" cy="685800"/>
          </a:xfrm>
          <a:prstGeom prst="rect">
            <a:avLst/>
          </a:prstGeom>
          <a:noFill/>
          <a:ln/>
        </p:spPr>
        <p:txBody>
          <a:bodyPr wrap="square" lIns="0" tIns="0" rIns="0" bIns="0" rtlCol="0" anchor="t"/>
          <a:lstStyle/>
          <a:p>
            <a:pPr algn="l" indent="0" marL="0">
              <a:lnSpc>
                <a:spcPts val="1710"/>
              </a:lnSpc>
              <a:buNone/>
            </a:pPr>
            <a:r>
              <a:rPr lang="en-US" sz="1140" spc="-34" kern="0" dirty="0">
                <a:solidFill>
                  <a:srgbClr val="000000">
                    <a:alpha val="99000"/>
                  </a:srgbClr>
                </a:solidFill>
                <a:latin typeface="Inter" pitchFamily="34" charset="0"/>
                <a:ea typeface="Inter" pitchFamily="34" charset="-122"/>
                <a:cs typeface="Inter" pitchFamily="34" charset="-120"/>
              </a:rPr>
              <a:t>Start</a:t>
            </a:r>
            <a:pPr algn="l" indent="0" marL="0">
              <a:lnSpc>
                <a:spcPts val="1710"/>
              </a:lnSpc>
              <a:buNone/>
            </a:pPr>
            <a:r>
              <a:rPr lang="en-US" sz="1140" spc="-34" kern="0" dirty="0">
                <a:solidFill>
                  <a:srgbClr val="000000">
                    <a:alpha val="99000"/>
                  </a:srgbClr>
                </a:solidFill>
                <a:latin typeface="Inter" pitchFamily="34" charset="0"/>
                <a:ea typeface="Inter" pitchFamily="34" charset="-122"/>
                <a:cs typeface="Inter" pitchFamily="34" charset="-120"/>
              </a:rPr>
              <a:t> </a:t>
            </a:r>
            <a:pPr algn="l" indent="0" marL="0">
              <a:lnSpc>
                <a:spcPts val="1710"/>
              </a:lnSpc>
              <a:buNone/>
            </a:pPr>
            <a:r>
              <a:rPr lang="en-US" sz="1140" spc="-34" kern="0" dirty="0">
                <a:solidFill>
                  <a:srgbClr val="000000">
                    <a:alpha val="99000"/>
                  </a:srgbClr>
                </a:solidFill>
                <a:latin typeface="Inter" pitchFamily="34" charset="0"/>
                <a:ea typeface="Inter" pitchFamily="34" charset="-122"/>
                <a:cs typeface="Inter" pitchFamily="34" charset="-120"/>
              </a:rPr>
              <a:t>quiet intro and invitation to interact</a:t>
            </a:r>
            <a:endParaRPr lang="en-US" sz="1140" dirty="0"/>
          </a:p>
        </p:txBody>
      </p:sp>
      <p:sp>
        <p:nvSpPr>
          <p:cNvPr id="6" name="Text 3"/>
          <p:cNvSpPr/>
          <p:nvPr/>
        </p:nvSpPr>
        <p:spPr>
          <a:xfrm>
            <a:off x="3919537" y="2819400"/>
            <a:ext cx="1652588" cy="685800"/>
          </a:xfrm>
          <a:prstGeom prst="rect">
            <a:avLst/>
          </a:prstGeom>
          <a:noFill/>
          <a:ln/>
        </p:spPr>
        <p:txBody>
          <a:bodyPr wrap="square" lIns="0" tIns="0" rIns="0" bIns="0" rtlCol="0" anchor="t"/>
          <a:lstStyle/>
          <a:p>
            <a:pPr algn="l" indent="0" marL="0">
              <a:lnSpc>
                <a:spcPts val="1710"/>
              </a:lnSpc>
              <a:buNone/>
            </a:pPr>
            <a:r>
              <a:rPr lang="en-US" sz="1140" spc="-34" kern="0" dirty="0">
                <a:solidFill>
                  <a:srgbClr val="000000">
                    <a:alpha val="99000"/>
                  </a:srgbClr>
                </a:solidFill>
                <a:latin typeface="Inter" pitchFamily="34" charset="0"/>
                <a:ea typeface="Inter" pitchFamily="34" charset="-122"/>
                <a:cs typeface="Inter" pitchFamily="34" charset="-120"/>
              </a:rPr>
              <a:t>Middle</a:t>
            </a:r>
            <a:pPr algn="l" indent="0" marL="0">
              <a:lnSpc>
                <a:spcPts val="1710"/>
              </a:lnSpc>
              <a:buNone/>
            </a:pPr>
            <a:r>
              <a:rPr lang="en-US" sz="1140" spc="-34" kern="0" dirty="0">
                <a:solidFill>
                  <a:srgbClr val="000000">
                    <a:alpha val="99000"/>
                  </a:srgbClr>
                </a:solidFill>
                <a:latin typeface="Inter" pitchFamily="34" charset="0"/>
                <a:ea typeface="Inter" pitchFamily="34" charset="-122"/>
                <a:cs typeface="Inter" pitchFamily="34" charset="-120"/>
              </a:rPr>
              <a:t> </a:t>
            </a:r>
            <a:pPr algn="l" indent="0" marL="0">
              <a:lnSpc>
                <a:spcPts val="1710"/>
              </a:lnSpc>
              <a:buNone/>
            </a:pPr>
            <a:r>
              <a:rPr lang="en-US" sz="1140" spc="-34" kern="0" dirty="0">
                <a:solidFill>
                  <a:srgbClr val="000000">
                    <a:alpha val="99000"/>
                  </a:srgbClr>
                </a:solidFill>
                <a:latin typeface="Inter" pitchFamily="34" charset="0"/>
                <a:ea typeface="Inter" pitchFamily="34" charset="-122"/>
                <a:cs typeface="Inter" pitchFamily="34" charset="-120"/>
              </a:rPr>
              <a:t>transformation driven by your pressure</a:t>
            </a:r>
            <a:endParaRPr lang="en-US" sz="1140" dirty="0"/>
          </a:p>
        </p:txBody>
      </p:sp>
      <p:sp>
        <p:nvSpPr>
          <p:cNvPr id="7" name="Text 4"/>
          <p:cNvSpPr/>
          <p:nvPr/>
        </p:nvSpPr>
        <p:spPr>
          <a:xfrm>
            <a:off x="6819900" y="2819400"/>
            <a:ext cx="1347788" cy="685800"/>
          </a:xfrm>
          <a:prstGeom prst="rect">
            <a:avLst/>
          </a:prstGeom>
          <a:noFill/>
          <a:ln/>
        </p:spPr>
        <p:txBody>
          <a:bodyPr wrap="square" lIns="0" tIns="0" rIns="0" bIns="0" rtlCol="0" anchor="t"/>
          <a:lstStyle/>
          <a:p>
            <a:pPr algn="r" indent="0" marL="0">
              <a:lnSpc>
                <a:spcPts val="1710"/>
              </a:lnSpc>
              <a:buNone/>
            </a:pPr>
            <a:r>
              <a:rPr lang="en-US" sz="1140" spc="-34" kern="0" dirty="0">
                <a:solidFill>
                  <a:srgbClr val="000000">
                    <a:alpha val="99000"/>
                  </a:srgbClr>
                </a:solidFill>
                <a:latin typeface="Inter" pitchFamily="34" charset="0"/>
                <a:ea typeface="Inter" pitchFamily="34" charset="-122"/>
                <a:cs typeface="Inter" pitchFamily="34" charset="-120"/>
              </a:rPr>
              <a:t>End</a:t>
            </a:r>
            <a:pPr algn="r" indent="0" marL="0">
              <a:lnSpc>
                <a:spcPts val="1710"/>
              </a:lnSpc>
              <a:buNone/>
            </a:pPr>
            <a:r>
              <a:rPr lang="en-US" sz="1140" spc="-34" kern="0" dirty="0">
                <a:solidFill>
                  <a:srgbClr val="000000">
                    <a:alpha val="99000"/>
                  </a:srgbClr>
                </a:solidFill>
                <a:latin typeface="Inter" pitchFamily="34" charset="0"/>
                <a:ea typeface="Inter" pitchFamily="34" charset="-122"/>
                <a:cs typeface="Inter" pitchFamily="34" charset="-120"/>
              </a:rPr>
              <a:t> </a:t>
            </a:r>
            <a:pPr algn="r" indent="0" marL="0">
              <a:lnSpc>
                <a:spcPts val="1710"/>
              </a:lnSpc>
              <a:buNone/>
            </a:pPr>
            <a:r>
              <a:rPr lang="en-US" sz="1140" spc="-34" kern="0" dirty="0">
                <a:solidFill>
                  <a:srgbClr val="000000">
                    <a:alpha val="99000"/>
                  </a:srgbClr>
                </a:solidFill>
                <a:latin typeface="Inter" pitchFamily="34" charset="0"/>
                <a:ea typeface="Inter" pitchFamily="34" charset="-122"/>
                <a:cs typeface="Inter" pitchFamily="34" charset="-120"/>
              </a:rPr>
              <a:t>release, dissolve, and gentle reset</a:t>
            </a:r>
            <a:endParaRPr lang="en-US" sz="1140" dirty="0"/>
          </a:p>
        </p:txBody>
      </p:sp>
      <p:pic>
        <p:nvPicPr>
          <p:cNvPr id="8" name="Image 1" descr="preencoded.png">    </p:cNvPr>
          <p:cNvPicPr>
            <a:picLocks noChangeAspect="1"/>
          </p:cNvPicPr>
          <p:nvPr/>
        </p:nvPicPr>
        <p:blipFill>
          <a:blip r:embed="rId2"/>
          <a:srcRect l="0" r="0" t="0" b="0"/>
          <a:stretch/>
        </p:blipFill>
        <p:spPr>
          <a:xfrm>
            <a:off x="628650" y="2464825"/>
            <a:ext cx="7681912" cy="21068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28650" y="1671638"/>
            <a:ext cx="3481388" cy="1400175"/>
          </a:xfrm>
          <a:prstGeom prst="rect">
            <a:avLst/>
          </a:prstGeom>
          <a:noFill/>
          <a:ln/>
        </p:spPr>
      </p:sp>
      <p:sp>
        <p:nvSpPr>
          <p:cNvPr id="3" name="Shape 1"/>
          <p:cNvSpPr/>
          <p:nvPr/>
        </p:nvSpPr>
        <p:spPr>
          <a:xfrm>
            <a:off x="628650" y="1671638"/>
            <a:ext cx="3076575" cy="1400175"/>
          </a:xfrm>
          <a:prstGeom prst="rect">
            <a:avLst/>
          </a:prstGeom>
          <a:noFill/>
          <a:ln/>
        </p:spPr>
      </p:sp>
      <p:sp>
        <p:nvSpPr>
          <p:cNvPr id="4" name="Text 2"/>
          <p:cNvSpPr/>
          <p:nvPr/>
        </p:nvSpPr>
        <p:spPr>
          <a:xfrm>
            <a:off x="628650" y="1671638"/>
            <a:ext cx="3076575" cy="1400175"/>
          </a:xfrm>
          <a:prstGeom prst="rect">
            <a:avLst/>
          </a:prstGeom>
          <a:noFill/>
          <a:ln/>
        </p:spPr>
        <p:txBody>
          <a:bodyPr wrap="square" lIns="0" tIns="0" rIns="0" bIns="0" rtlCol="0" anchor="ctr"/>
          <a:lstStyle/>
          <a:p>
            <a:pPr algn="l" marL="342900" indent="-342900">
              <a:lnSpc>
                <a:spcPts val="1744"/>
              </a:lnSpc>
              <a:buSzPct val="100000"/>
              <a:buChar char="•"/>
            </a:pPr>
            <a:r>
              <a:rPr lang="en-US" sz="1283" spc="-38" kern="0" dirty="0">
                <a:solidFill>
                  <a:srgbClr val="000000">
                    <a:alpha val="99000"/>
                  </a:srgbClr>
                </a:solidFill>
                <a:latin typeface="Inter" pitchFamily="34" charset="0"/>
                <a:ea typeface="Inter" pitchFamily="34" charset="-122"/>
                <a:cs typeface="Inter" pitchFamily="34" charset="-120"/>
              </a:rPr>
              <a:t>No complicated instructions: video and gesture show what to do</a:t>
            </a:r>
            <a:endParaRPr lang="en-US" sz="1283" dirty="0"/>
          </a:p>
          <a:p>
            <a:pPr algn="l" marL="342900" indent="-342900">
              <a:lnSpc>
                <a:spcPts val="1744"/>
              </a:lnSpc>
              <a:buSzPct val="100000"/>
              <a:buChar char="•"/>
            </a:pPr>
            <a:r>
              <a:rPr lang="en-US" sz="1283" spc="-38" kern="0" dirty="0">
                <a:solidFill>
                  <a:srgbClr val="000000">
                    <a:alpha val="99000"/>
                  </a:srgbClr>
                </a:solidFill>
                <a:latin typeface="Inter" pitchFamily="34" charset="0"/>
                <a:ea typeface="Inter" pitchFamily="34" charset="-122"/>
                <a:cs typeface="Inter" pitchFamily="34" charset="-120"/>
              </a:rPr>
              <a:t>Pressure levels mapped to clear states (light, medium, hard)</a:t>
            </a:r>
            <a:endParaRPr lang="en-US" sz="1283" dirty="0"/>
          </a:p>
          <a:p>
            <a:pPr algn="l" marL="342900" indent="-342900">
              <a:lnSpc>
                <a:spcPts val="1744"/>
              </a:lnSpc>
              <a:buSzPct val="100000"/>
              <a:buChar char="•"/>
            </a:pPr>
            <a:r>
              <a:rPr lang="en-US" sz="1283" spc="-38" kern="0" dirty="0">
                <a:solidFill>
                  <a:srgbClr val="000000">
                    <a:alpha val="99000"/>
                  </a:srgbClr>
                </a:solidFill>
                <a:latin typeface="Inter" pitchFamily="34" charset="0"/>
                <a:ea typeface="Inter" pitchFamily="34" charset="-122"/>
                <a:cs typeface="Inter" pitchFamily="34" charset="-120"/>
              </a:rPr>
              <a:t>LEDs confirm that it’s responding to you</a:t>
            </a:r>
            <a:endParaRPr lang="en-US" sz="1283" dirty="0"/>
          </a:p>
        </p:txBody>
      </p:sp>
      <p:pic>
        <p:nvPicPr>
          <p:cNvPr id="5" name="Image 0" descr="preencoded.png">    </p:cNvPr>
          <p:cNvPicPr>
            <a:picLocks noChangeAspect="1"/>
          </p:cNvPicPr>
          <p:nvPr/>
        </p:nvPicPr>
        <p:blipFill>
          <a:blip r:embed="rId1"/>
          <a:srcRect l="0" r="0" t="0" b="0"/>
          <a:stretch/>
        </p:blipFill>
        <p:spPr>
          <a:xfrm>
            <a:off x="0" y="4838700"/>
            <a:ext cx="9144000" cy="304800"/>
          </a:xfrm>
          <a:prstGeom prst="rect">
            <a:avLst/>
          </a:prstGeom>
        </p:spPr>
      </p:pic>
      <p:sp>
        <p:nvSpPr>
          <p:cNvPr id="6" name="Text 3"/>
          <p:cNvSpPr/>
          <p:nvPr/>
        </p:nvSpPr>
        <p:spPr>
          <a:xfrm>
            <a:off x="628650" y="628650"/>
            <a:ext cx="4819650" cy="180975"/>
          </a:xfrm>
          <a:prstGeom prst="rect">
            <a:avLst/>
          </a:prstGeom>
          <a:noFill/>
          <a:ln/>
        </p:spPr>
        <p:txBody>
          <a:bodyPr wrap="square" lIns="0" tIns="0" rIns="0" bIns="0" rtlCol="0" anchor="t"/>
          <a:lstStyle/>
          <a:p>
            <a:pPr algn="l" indent="0" marL="0">
              <a:lnSpc>
                <a:spcPts val="1368"/>
              </a:lnSpc>
              <a:buNone/>
            </a:pPr>
            <a:r>
              <a:rPr lang="en-US" sz="1140" spc="-34" kern="0" dirty="0">
                <a:solidFill>
                  <a:srgbClr val="000000">
                    <a:alpha val="99000"/>
                  </a:srgbClr>
                </a:solidFill>
                <a:latin typeface="Inter" pitchFamily="34" charset="0"/>
                <a:ea typeface="Inter" pitchFamily="34" charset="-122"/>
                <a:cs typeface="Inter" pitchFamily="34" charset="-120"/>
              </a:rPr>
              <a:t>UX</a:t>
            </a:r>
            <a:endParaRPr lang="en-US" sz="1140" dirty="0"/>
          </a:p>
        </p:txBody>
      </p:sp>
      <p:sp>
        <p:nvSpPr>
          <p:cNvPr id="7" name="Text 4"/>
          <p:cNvSpPr/>
          <p:nvPr/>
        </p:nvSpPr>
        <p:spPr>
          <a:xfrm>
            <a:off x="628650" y="981075"/>
            <a:ext cx="4819650" cy="276225"/>
          </a:xfrm>
          <a:prstGeom prst="rect">
            <a:avLst/>
          </a:prstGeom>
          <a:noFill/>
          <a:ln/>
        </p:spPr>
        <p:txBody>
          <a:bodyPr wrap="square" lIns="0" tIns="0" rIns="0" bIns="0" rtlCol="0" anchor="t"/>
          <a:lstStyle/>
          <a:p>
            <a:pPr algn="l" indent="0" marL="0">
              <a:lnSpc>
                <a:spcPts val="2052"/>
              </a:lnSpc>
              <a:buNone/>
            </a:pPr>
            <a:r>
              <a:rPr lang="en-US" sz="1710" spc="-51" kern="0" dirty="0">
                <a:solidFill>
                  <a:srgbClr val="000000">
                    <a:alpha val="99000"/>
                  </a:srgbClr>
                </a:solidFill>
                <a:latin typeface="Inter" pitchFamily="34" charset="0"/>
                <a:ea typeface="Inter" pitchFamily="34" charset="-122"/>
                <a:cs typeface="Inter" pitchFamily="34" charset="-120"/>
              </a:rPr>
              <a:t>Interaction Design Decisions</a:t>
            </a:r>
            <a:endParaRPr lang="en-US" sz="1710" dirty="0"/>
          </a:p>
        </p:txBody>
      </p:sp>
      <p:sp>
        <p:nvSpPr>
          <p:cNvPr id="8" name="Text 5"/>
          <p:cNvSpPr/>
          <p:nvPr/>
        </p:nvSpPr>
        <p:spPr>
          <a:xfrm>
            <a:off x="4786313" y="2614613"/>
            <a:ext cx="3810000" cy="1628775"/>
          </a:xfrm>
          <a:prstGeom prst="rect">
            <a:avLst/>
          </a:prstGeom>
          <a:noFill/>
          <a:ln/>
        </p:spPr>
        <p:txBody>
          <a:bodyPr wrap="square" lIns="0" tIns="0" rIns="0" bIns="0" rtlCol="0" anchor="t"/>
          <a:lstStyle/>
          <a:p>
            <a:pPr algn="l" indent="0" marL="0">
              <a:lnSpc>
                <a:spcPts val="1368"/>
              </a:lnSpc>
              <a:buNone/>
            </a:pPr>
            <a:r>
              <a:rPr lang="en-US" sz="1140" spc="-34" kern="0" dirty="0">
                <a:solidFill>
                  <a:srgbClr val="8BAFAC">
                    <a:alpha val="99000"/>
                  </a:srgbClr>
                </a:solidFill>
                <a:latin typeface="Inter" pitchFamily="34" charset="0"/>
                <a:ea typeface="Inter" pitchFamily="34" charset="-122"/>
                <a:cs typeface="Inter" pitchFamily="34" charset="-120"/>
              </a:rPr>
              <a:t>One design goal was to make it obvious what to do without a lot of text, and this is something that really helped through user testing. The video and the hand shape are enough to suggest ‘place your hand here.’ Pressure is mapped to three recognizable states so people can quickly understand the relationship between their touch and the response. LEDs and motion act as confirmation that the sculpture is listening to them</a:t>
            </a:r>
            <a:endParaRPr lang="en-US" sz="114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28650" y="1671638"/>
            <a:ext cx="3481388" cy="1633538"/>
          </a:xfrm>
          <a:prstGeom prst="rect">
            <a:avLst/>
          </a:prstGeom>
          <a:noFill/>
          <a:ln/>
        </p:spPr>
      </p:sp>
      <p:sp>
        <p:nvSpPr>
          <p:cNvPr id="3" name="Shape 1"/>
          <p:cNvSpPr/>
          <p:nvPr/>
        </p:nvSpPr>
        <p:spPr>
          <a:xfrm>
            <a:off x="628650" y="1671638"/>
            <a:ext cx="3076575" cy="1633538"/>
          </a:xfrm>
          <a:prstGeom prst="rect">
            <a:avLst/>
          </a:prstGeom>
          <a:noFill/>
          <a:ln/>
        </p:spPr>
      </p:sp>
      <p:sp>
        <p:nvSpPr>
          <p:cNvPr id="4" name="Text 2"/>
          <p:cNvSpPr/>
          <p:nvPr/>
        </p:nvSpPr>
        <p:spPr>
          <a:xfrm>
            <a:off x="628650" y="1671638"/>
            <a:ext cx="3076575" cy="1633538"/>
          </a:xfrm>
          <a:prstGeom prst="rect">
            <a:avLst/>
          </a:prstGeom>
          <a:noFill/>
          <a:ln/>
        </p:spPr>
        <p:txBody>
          <a:bodyPr wrap="square" lIns="0" tIns="0" rIns="0" bIns="0" rtlCol="0" anchor="ctr"/>
          <a:lstStyle/>
          <a:p>
            <a:pPr algn="l" marL="342900" indent="-342900">
              <a:lnSpc>
                <a:spcPts val="1744"/>
              </a:lnSpc>
              <a:buSzPct val="100000"/>
              <a:buChar char="•"/>
            </a:pPr>
            <a:r>
              <a:rPr lang="en-US" sz="1283" spc="-38" kern="0" dirty="0">
                <a:solidFill>
                  <a:srgbClr val="000000">
                    <a:alpha val="99000"/>
                  </a:srgbClr>
                </a:solidFill>
                <a:latin typeface="Inter" pitchFamily="34" charset="0"/>
                <a:ea typeface="Inter" pitchFamily="34" charset="-122"/>
                <a:cs typeface="Inter" pitchFamily="34" charset="-120"/>
              </a:rPr>
              <a:t>Users understood “put your hand here” instantly</a:t>
            </a:r>
            <a:endParaRPr lang="en-US" sz="1283" dirty="0"/>
          </a:p>
          <a:p>
            <a:pPr algn="l" marL="342900" indent="-342900">
              <a:lnSpc>
                <a:spcPts val="1744"/>
              </a:lnSpc>
              <a:buSzPct val="100000"/>
              <a:buChar char="•"/>
            </a:pPr>
            <a:r>
              <a:rPr lang="en-US" sz="1283" spc="-38" kern="0" dirty="0">
                <a:solidFill>
                  <a:srgbClr val="000000">
                    <a:alpha val="99000"/>
                  </a:srgbClr>
                </a:solidFill>
                <a:latin typeface="Inter" pitchFamily="34" charset="0"/>
                <a:ea typeface="Inter" pitchFamily="34" charset="-122"/>
                <a:cs typeface="Inter" pitchFamily="34" charset="-120"/>
              </a:rPr>
              <a:t>They wanted more feedback from the hand itself</a:t>
            </a:r>
            <a:endParaRPr lang="en-US" sz="1283" dirty="0"/>
          </a:p>
          <a:p>
            <a:pPr algn="l" marL="342900" indent="-342900">
              <a:lnSpc>
                <a:spcPts val="1744"/>
              </a:lnSpc>
              <a:buSzPct val="100000"/>
              <a:buChar char="•"/>
            </a:pPr>
            <a:r>
              <a:rPr lang="en-US" sz="1283" spc="-38" kern="0" dirty="0">
                <a:solidFill>
                  <a:srgbClr val="000000">
                    <a:alpha val="99000"/>
                  </a:srgbClr>
                </a:solidFill>
                <a:latin typeface="Inter" pitchFamily="34" charset="0"/>
                <a:ea typeface="Inter" pitchFamily="34" charset="-122"/>
                <a:cs typeface="Inter" pitchFamily="34" charset="-120"/>
              </a:rPr>
              <a:t>Added stronger LED responses and planned future haptics</a:t>
            </a:r>
            <a:endParaRPr lang="en-US" sz="1283" dirty="0"/>
          </a:p>
        </p:txBody>
      </p:sp>
      <p:pic>
        <p:nvPicPr>
          <p:cNvPr id="5" name="Image 0" descr="preencoded.png">    </p:cNvPr>
          <p:cNvPicPr>
            <a:picLocks noChangeAspect="1"/>
          </p:cNvPicPr>
          <p:nvPr/>
        </p:nvPicPr>
        <p:blipFill>
          <a:blip r:embed="rId1"/>
          <a:srcRect l="0" r="0" t="0" b="0"/>
          <a:stretch/>
        </p:blipFill>
        <p:spPr>
          <a:xfrm>
            <a:off x="0" y="4838700"/>
            <a:ext cx="9144000" cy="304800"/>
          </a:xfrm>
          <a:prstGeom prst="rect">
            <a:avLst/>
          </a:prstGeom>
        </p:spPr>
      </p:pic>
      <p:sp>
        <p:nvSpPr>
          <p:cNvPr id="6" name="Text 3"/>
          <p:cNvSpPr/>
          <p:nvPr/>
        </p:nvSpPr>
        <p:spPr>
          <a:xfrm>
            <a:off x="628650" y="628650"/>
            <a:ext cx="4819650" cy="180975"/>
          </a:xfrm>
          <a:prstGeom prst="rect">
            <a:avLst/>
          </a:prstGeom>
          <a:noFill/>
          <a:ln/>
        </p:spPr>
        <p:txBody>
          <a:bodyPr wrap="square" lIns="0" tIns="0" rIns="0" bIns="0" rtlCol="0" anchor="t"/>
          <a:lstStyle/>
          <a:p>
            <a:pPr algn="l" indent="0" marL="0">
              <a:lnSpc>
                <a:spcPts val="1368"/>
              </a:lnSpc>
              <a:buNone/>
            </a:pPr>
            <a:r>
              <a:rPr lang="en-US" sz="1140" spc="-34" kern="0" dirty="0">
                <a:solidFill>
                  <a:srgbClr val="000000">
                    <a:alpha val="99000"/>
                  </a:srgbClr>
                </a:solidFill>
                <a:latin typeface="Inter" pitchFamily="34" charset="0"/>
                <a:ea typeface="Inter" pitchFamily="34" charset="-122"/>
                <a:cs typeface="Inter" pitchFamily="34" charset="-120"/>
              </a:rPr>
              <a:t>UX</a:t>
            </a:r>
            <a:endParaRPr lang="en-US" sz="1140" dirty="0"/>
          </a:p>
        </p:txBody>
      </p:sp>
      <p:sp>
        <p:nvSpPr>
          <p:cNvPr id="7" name="Text 4"/>
          <p:cNvSpPr/>
          <p:nvPr/>
        </p:nvSpPr>
        <p:spPr>
          <a:xfrm>
            <a:off x="628650" y="981075"/>
            <a:ext cx="4819650" cy="276225"/>
          </a:xfrm>
          <a:prstGeom prst="rect">
            <a:avLst/>
          </a:prstGeom>
          <a:noFill/>
          <a:ln/>
        </p:spPr>
        <p:txBody>
          <a:bodyPr wrap="square" lIns="0" tIns="0" rIns="0" bIns="0" rtlCol="0" anchor="t"/>
          <a:lstStyle/>
          <a:p>
            <a:pPr algn="l" indent="0" marL="0">
              <a:lnSpc>
                <a:spcPts val="2052"/>
              </a:lnSpc>
              <a:buNone/>
            </a:pPr>
            <a:r>
              <a:rPr lang="en-US" sz="1710" spc="-51" kern="0" dirty="0">
                <a:solidFill>
                  <a:srgbClr val="000000">
                    <a:alpha val="99000"/>
                  </a:srgbClr>
                </a:solidFill>
                <a:latin typeface="Inter" pitchFamily="34" charset="0"/>
                <a:ea typeface="Inter" pitchFamily="34" charset="-122"/>
                <a:cs typeface="Inter" pitchFamily="34" charset="-120"/>
              </a:rPr>
              <a:t>After Feedback - week 1</a:t>
            </a:r>
            <a:endParaRPr lang="en-US" sz="1710" dirty="0"/>
          </a:p>
        </p:txBody>
      </p:sp>
      <p:sp>
        <p:nvSpPr>
          <p:cNvPr id="8" name="Text 5"/>
          <p:cNvSpPr/>
          <p:nvPr/>
        </p:nvSpPr>
        <p:spPr>
          <a:xfrm>
            <a:off x="4786313" y="2614613"/>
            <a:ext cx="3810000" cy="1266825"/>
          </a:xfrm>
          <a:prstGeom prst="rect">
            <a:avLst/>
          </a:prstGeom>
          <a:noFill/>
          <a:ln/>
        </p:spPr>
        <p:txBody>
          <a:bodyPr wrap="square" lIns="0" tIns="0" rIns="0" bIns="0" rtlCol="0" anchor="t"/>
          <a:lstStyle/>
          <a:p>
            <a:pPr algn="l" indent="0" marL="0">
              <a:lnSpc>
                <a:spcPts val="1368"/>
              </a:lnSpc>
              <a:buNone/>
            </a:pPr>
            <a:r>
              <a:rPr lang="en-US" sz="1140" spc="-34" kern="0" dirty="0">
                <a:solidFill>
                  <a:srgbClr val="8BAFAC">
                    <a:alpha val="99000"/>
                  </a:srgbClr>
                </a:solidFill>
                <a:latin typeface="Inter" pitchFamily="34" charset="0"/>
                <a:ea typeface="Inter" pitchFamily="34" charset="-122"/>
                <a:cs typeface="Inter" pitchFamily="34" charset="-120"/>
              </a:rPr>
              <a:t>During user testing, everyone understood immediately that they should place their hand on the sculpture, which was good. But many people wanted more direct feedback from the hand itself. They expected it to glow or react more dramatically when they pressed. That led to stronger LED patterns tied directly to pressure and ideas for future haptic feedback, like subtle vibration</a:t>
            </a:r>
            <a:endParaRPr lang="en-US" sz="1140" dirty="0"/>
          </a:p>
        </p:txBody>
      </p:sp>
      <p:pic>
        <p:nvPicPr>
          <p:cNvPr id="9" name="Image 1" descr="preencoded.png">    </p:cNvPr>
          <p:cNvPicPr>
            <a:picLocks noChangeAspect="1"/>
          </p:cNvPicPr>
          <p:nvPr/>
        </p:nvPicPr>
        <p:blipFill>
          <a:blip r:embed="rId2"/>
          <a:srcRect l="0" r="0" t="0" b="0"/>
          <a:stretch/>
        </p:blipFill>
        <p:spPr>
          <a:xfrm>
            <a:off x="5910263" y="238125"/>
            <a:ext cx="2562225" cy="1919288"/>
          </a:xfrm>
          <a:prstGeom prst="rect">
            <a:avLst/>
          </a:prstGeom>
        </p:spPr>
      </p:pic>
      <p:sp>
        <p:nvSpPr>
          <p:cNvPr id="10" name="Text 6"/>
          <p:cNvSpPr/>
          <p:nvPr/>
        </p:nvSpPr>
        <p:spPr>
          <a:xfrm>
            <a:off x="7553325" y="2214563"/>
            <a:ext cx="1281113" cy="200025"/>
          </a:xfrm>
          <a:prstGeom prst="rect">
            <a:avLst/>
          </a:prstGeom>
          <a:noFill/>
          <a:ln/>
        </p:spPr>
        <p:txBody>
          <a:bodyPr wrap="square" lIns="0" tIns="0" rIns="0" bIns="0" rtlCol="0" anchor="t"/>
          <a:lstStyle/>
          <a:p>
            <a:pPr algn="l" indent="0" marL="0">
              <a:lnSpc>
                <a:spcPts val="1482"/>
              </a:lnSpc>
              <a:buNone/>
            </a:pPr>
            <a:r>
              <a:rPr lang="en-US" sz="1140" spc="-34" kern="0" dirty="0">
                <a:solidFill>
                  <a:srgbClr val="8BAFAC">
                    <a:alpha val="99000"/>
                  </a:srgbClr>
                </a:solidFill>
                <a:latin typeface="Inter" pitchFamily="34" charset="0"/>
                <a:ea typeface="Inter" pitchFamily="34" charset="-122"/>
                <a:cs typeface="Inter" pitchFamily="34" charset="-120"/>
              </a:rPr>
              <a:t>User: Jessica</a:t>
            </a:r>
            <a:endParaRPr lang="en-US" sz="1140" dirty="0"/>
          </a:p>
        </p:txBody>
      </p:sp>
      <p:sp>
        <p:nvSpPr>
          <p:cNvPr id="11" name="Text 7"/>
          <p:cNvSpPr/>
          <p:nvPr/>
        </p:nvSpPr>
        <p:spPr>
          <a:xfrm>
            <a:off x="414338" y="4505325"/>
            <a:ext cx="966788" cy="200025"/>
          </a:xfrm>
          <a:prstGeom prst="rect">
            <a:avLst/>
          </a:prstGeom>
          <a:noFill/>
          <a:ln/>
        </p:spPr>
        <p:txBody>
          <a:bodyPr wrap="square" lIns="0" tIns="0" rIns="0" bIns="0" rtlCol="0" anchor="t"/>
          <a:lstStyle/>
          <a:p>
            <a:pPr algn="l" indent="0" marL="0">
              <a:lnSpc>
                <a:spcPts val="1482"/>
              </a:lnSpc>
              <a:buNone/>
            </a:pPr>
            <a:r>
              <a:rPr lang="en-US" sz="1140" u="sng" spc="-34" kern="0" dirty="0">
                <a:solidFill>
                  <a:srgbClr val="000000">
                    <a:alpha val="99000"/>
                  </a:srgbClr>
                </a:solidFill>
                <a:latin typeface="Inter" pitchFamily="34" charset="0"/>
                <a:ea typeface="Inter" pitchFamily="34" charset="-122"/>
                <a:cs typeface="Inter" pitchFamily="34" charset="-120"/>
                <a:hlinkClick r:id="rId3" invalidUrl="" action="" tgtFrame="" tooltip="" history="1" highlightClick="0" endSnd="0">
                  <a:extLst>
                    <a:ext uri="{A12FA001-AC4F-418D-AE19-62706E023703}">
                      <ahyp:hlinkClr xmlns:ahyp="http://schemas.microsoft.com/office/drawing/2018/hyperlinkcolor" val="tx"/>
                    </a:ext>
                  </a:extLst>
                </a:hlinkClick>
              </a:rPr>
              <a:t>user test</a:t>
            </a:r>
            <a:endParaRPr lang="en-US" sz="114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28650" y="1671638"/>
            <a:ext cx="3481388" cy="1633538"/>
          </a:xfrm>
          <a:prstGeom prst="rect">
            <a:avLst/>
          </a:prstGeom>
          <a:noFill/>
          <a:ln/>
        </p:spPr>
      </p:sp>
      <p:sp>
        <p:nvSpPr>
          <p:cNvPr id="3" name="Shape 1"/>
          <p:cNvSpPr/>
          <p:nvPr/>
        </p:nvSpPr>
        <p:spPr>
          <a:xfrm>
            <a:off x="628650" y="1671638"/>
            <a:ext cx="3076575" cy="1633538"/>
          </a:xfrm>
          <a:prstGeom prst="rect">
            <a:avLst/>
          </a:prstGeom>
          <a:noFill/>
          <a:ln/>
        </p:spPr>
      </p:sp>
      <p:sp>
        <p:nvSpPr>
          <p:cNvPr id="4" name="Text 2"/>
          <p:cNvSpPr/>
          <p:nvPr/>
        </p:nvSpPr>
        <p:spPr>
          <a:xfrm>
            <a:off x="628650" y="1671638"/>
            <a:ext cx="3076575" cy="1633538"/>
          </a:xfrm>
          <a:prstGeom prst="rect">
            <a:avLst/>
          </a:prstGeom>
          <a:noFill/>
          <a:ln/>
        </p:spPr>
        <p:txBody>
          <a:bodyPr wrap="square" lIns="0" tIns="0" rIns="0" bIns="0" rtlCol="0" anchor="ctr"/>
          <a:lstStyle/>
          <a:p>
            <a:pPr algn="l" marL="342900" indent="-342900">
              <a:lnSpc>
                <a:spcPts val="1744"/>
              </a:lnSpc>
              <a:buSzPct val="100000"/>
              <a:buChar char="•"/>
            </a:pPr>
            <a:r>
              <a:rPr lang="en-US" sz="1283" spc="-38" kern="0" dirty="0">
                <a:solidFill>
                  <a:srgbClr val="000000">
                    <a:alpha val="99000"/>
                  </a:srgbClr>
                </a:solidFill>
                <a:latin typeface="Inter" pitchFamily="34" charset="0"/>
                <a:ea typeface="Inter" pitchFamily="34" charset="-122"/>
                <a:cs typeface="Inter" pitchFamily="34" charset="-120"/>
              </a:rPr>
              <a:t>Web serial and browser changes made connection tricky</a:t>
            </a:r>
            <a:endParaRPr lang="en-US" sz="1283" dirty="0"/>
          </a:p>
          <a:p>
            <a:pPr algn="l" marL="342900" indent="-342900">
              <a:lnSpc>
                <a:spcPts val="1744"/>
              </a:lnSpc>
              <a:buSzPct val="100000"/>
              <a:buChar char="•"/>
            </a:pPr>
            <a:r>
              <a:rPr lang="en-US" sz="1283" spc="-38" kern="0" dirty="0">
                <a:solidFill>
                  <a:srgbClr val="000000">
                    <a:alpha val="99000"/>
                  </a:srgbClr>
                </a:solidFill>
                <a:latin typeface="Inter" pitchFamily="34" charset="0"/>
                <a:ea typeface="Inter" pitchFamily="34" charset="-122"/>
                <a:cs typeface="Inter" pitchFamily="34" charset="-120"/>
              </a:rPr>
              <a:t>Managing sensor noise and mapping smooth pressure curves</a:t>
            </a:r>
            <a:endParaRPr lang="en-US" sz="1283" dirty="0"/>
          </a:p>
          <a:p>
            <a:pPr algn="l" marL="342900" indent="-342900">
              <a:lnSpc>
                <a:spcPts val="1744"/>
              </a:lnSpc>
              <a:buSzPct val="100000"/>
              <a:buChar char="•"/>
            </a:pPr>
            <a:r>
              <a:rPr lang="en-US" sz="1283" spc="-38" kern="0" dirty="0">
                <a:solidFill>
                  <a:srgbClr val="000000">
                    <a:alpha val="99000"/>
                  </a:srgbClr>
                </a:solidFill>
                <a:latin typeface="Inter" pitchFamily="34" charset="0"/>
                <a:ea typeface="Inter" pitchFamily="34" charset="-122"/>
                <a:cs typeface="Inter" pitchFamily="34" charset="-120"/>
              </a:rPr>
              <a:t>Balancing visual chaos with clarity and legibility</a:t>
            </a:r>
            <a:endParaRPr lang="en-US" sz="1283" dirty="0"/>
          </a:p>
        </p:txBody>
      </p:sp>
      <p:pic>
        <p:nvPicPr>
          <p:cNvPr id="5" name="Image 0" descr="preencoded.png">    </p:cNvPr>
          <p:cNvPicPr>
            <a:picLocks noChangeAspect="1"/>
          </p:cNvPicPr>
          <p:nvPr/>
        </p:nvPicPr>
        <p:blipFill>
          <a:blip r:embed="rId1"/>
          <a:srcRect l="0" r="0" t="0" b="0"/>
          <a:stretch/>
        </p:blipFill>
        <p:spPr>
          <a:xfrm>
            <a:off x="0" y="4838700"/>
            <a:ext cx="9144000" cy="304800"/>
          </a:xfrm>
          <a:prstGeom prst="rect">
            <a:avLst/>
          </a:prstGeom>
        </p:spPr>
      </p:pic>
      <p:sp>
        <p:nvSpPr>
          <p:cNvPr id="6" name="Text 3"/>
          <p:cNvSpPr/>
          <p:nvPr/>
        </p:nvSpPr>
        <p:spPr>
          <a:xfrm>
            <a:off x="628650" y="628650"/>
            <a:ext cx="4819650" cy="180975"/>
          </a:xfrm>
          <a:prstGeom prst="rect">
            <a:avLst/>
          </a:prstGeom>
          <a:noFill/>
          <a:ln/>
        </p:spPr>
        <p:txBody>
          <a:bodyPr wrap="square" lIns="0" tIns="0" rIns="0" bIns="0" rtlCol="0" anchor="t"/>
          <a:lstStyle/>
          <a:p>
            <a:pPr algn="l" indent="0" marL="0">
              <a:lnSpc>
                <a:spcPts val="1368"/>
              </a:lnSpc>
              <a:buNone/>
            </a:pPr>
            <a:r>
              <a:rPr lang="en-US" sz="1140" spc="-34" kern="0" dirty="0">
                <a:solidFill>
                  <a:srgbClr val="000000">
                    <a:alpha val="99000"/>
                  </a:srgbClr>
                </a:solidFill>
                <a:latin typeface="Inter" pitchFamily="34" charset="0"/>
                <a:ea typeface="Inter" pitchFamily="34" charset="-122"/>
                <a:cs typeface="Inter" pitchFamily="34" charset="-120"/>
              </a:rPr>
              <a:t>Takeaways</a:t>
            </a:r>
            <a:endParaRPr lang="en-US" sz="1140" dirty="0"/>
          </a:p>
        </p:txBody>
      </p:sp>
      <p:sp>
        <p:nvSpPr>
          <p:cNvPr id="7" name="Text 4"/>
          <p:cNvSpPr/>
          <p:nvPr/>
        </p:nvSpPr>
        <p:spPr>
          <a:xfrm>
            <a:off x="628650" y="981075"/>
            <a:ext cx="4819650" cy="276225"/>
          </a:xfrm>
          <a:prstGeom prst="rect">
            <a:avLst/>
          </a:prstGeom>
          <a:noFill/>
          <a:ln/>
        </p:spPr>
        <p:txBody>
          <a:bodyPr wrap="square" lIns="0" tIns="0" rIns="0" bIns="0" rtlCol="0" anchor="t"/>
          <a:lstStyle/>
          <a:p>
            <a:pPr algn="l" indent="0" marL="0">
              <a:lnSpc>
                <a:spcPts val="2052"/>
              </a:lnSpc>
              <a:buNone/>
            </a:pPr>
            <a:r>
              <a:rPr lang="en-US" sz="1710" spc="-51" kern="0" dirty="0">
                <a:solidFill>
                  <a:srgbClr val="000000">
                    <a:alpha val="99000"/>
                  </a:srgbClr>
                </a:solidFill>
                <a:latin typeface="Inter" pitchFamily="34" charset="0"/>
                <a:ea typeface="Inter" pitchFamily="34" charset="-122"/>
                <a:cs typeface="Inter" pitchFamily="34" charset="-120"/>
              </a:rPr>
              <a:t>Challenges and What I learnt</a:t>
            </a:r>
            <a:endParaRPr lang="en-US" sz="1710" dirty="0"/>
          </a:p>
        </p:txBody>
      </p:sp>
      <p:sp>
        <p:nvSpPr>
          <p:cNvPr id="8" name="Text 5"/>
          <p:cNvSpPr/>
          <p:nvPr/>
        </p:nvSpPr>
        <p:spPr>
          <a:xfrm>
            <a:off x="4786313" y="2614613"/>
            <a:ext cx="3810000" cy="1628775"/>
          </a:xfrm>
          <a:prstGeom prst="rect">
            <a:avLst/>
          </a:prstGeom>
          <a:noFill/>
          <a:ln/>
        </p:spPr>
        <p:txBody>
          <a:bodyPr wrap="square" lIns="0" tIns="0" rIns="0" bIns="0" rtlCol="0" anchor="t"/>
          <a:lstStyle/>
          <a:p>
            <a:pPr algn="l" indent="0" marL="0">
              <a:lnSpc>
                <a:spcPts val="1368"/>
              </a:lnSpc>
              <a:buNone/>
            </a:pPr>
            <a:r>
              <a:rPr lang="en-US" sz="1140" spc="-34" kern="0" dirty="0">
                <a:solidFill>
                  <a:srgbClr val="8BAFAC">
                    <a:alpha val="99000"/>
                  </a:srgbClr>
                </a:solidFill>
                <a:latin typeface="Inter" pitchFamily="34" charset="0"/>
                <a:ea typeface="Inter" pitchFamily="34" charset="-122"/>
                <a:cs typeface="Inter" pitchFamily="34" charset="-120"/>
              </a:rPr>
              <a:t>One major challenge was dealing with serial communication changes in the browser. Some libraries were outdated, and connecting reliably to the Arduino took extra work. I also had to smooth the sensor data so tiny fluctuations didn’t cause jittery visuals. Another lesson was about balance: it’s tempting to make everything explode with energy, but the piece is stronger when chaos is anchored by clear, readable states</a:t>
            </a:r>
            <a:endParaRPr lang="en-US" sz="114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28650" y="1671638"/>
            <a:ext cx="3481388" cy="1866900"/>
          </a:xfrm>
          <a:prstGeom prst="rect">
            <a:avLst/>
          </a:prstGeom>
          <a:noFill/>
          <a:ln/>
        </p:spPr>
      </p:sp>
      <p:sp>
        <p:nvSpPr>
          <p:cNvPr id="3" name="Shape 1"/>
          <p:cNvSpPr/>
          <p:nvPr/>
        </p:nvSpPr>
        <p:spPr>
          <a:xfrm>
            <a:off x="628650" y="1671638"/>
            <a:ext cx="3076575" cy="1866900"/>
          </a:xfrm>
          <a:prstGeom prst="rect">
            <a:avLst/>
          </a:prstGeom>
          <a:noFill/>
          <a:ln/>
        </p:spPr>
      </p:sp>
      <p:sp>
        <p:nvSpPr>
          <p:cNvPr id="4" name="Text 2"/>
          <p:cNvSpPr/>
          <p:nvPr/>
        </p:nvSpPr>
        <p:spPr>
          <a:xfrm>
            <a:off x="628650" y="1671638"/>
            <a:ext cx="3076575" cy="1866900"/>
          </a:xfrm>
          <a:prstGeom prst="rect">
            <a:avLst/>
          </a:prstGeom>
          <a:noFill/>
          <a:ln/>
        </p:spPr>
        <p:txBody>
          <a:bodyPr wrap="square" lIns="0" tIns="0" rIns="0" bIns="0" rtlCol="0" anchor="ctr"/>
          <a:lstStyle/>
          <a:p>
            <a:pPr algn="l" marL="342900" indent="-342900">
              <a:lnSpc>
                <a:spcPts val="1744"/>
              </a:lnSpc>
              <a:buSzPct val="100000"/>
              <a:buChar char="•"/>
            </a:pPr>
            <a:r>
              <a:rPr lang="en-US" sz="1283" spc="-38" kern="0" dirty="0">
                <a:solidFill>
                  <a:srgbClr val="000000">
                    <a:alpha val="99000"/>
                  </a:srgbClr>
                </a:solidFill>
                <a:latin typeface="Inter" pitchFamily="34" charset="0"/>
                <a:ea typeface="Inter" pitchFamily="34" charset="-122"/>
                <a:cs typeface="Inter" pitchFamily="34" charset="-120"/>
              </a:rPr>
              <a:t>Add subtle vibration to the hand for deeper feedback</a:t>
            </a:r>
            <a:endParaRPr lang="en-US" sz="1283" dirty="0"/>
          </a:p>
          <a:p>
            <a:pPr algn="l" marL="342900" indent="-342900">
              <a:lnSpc>
                <a:spcPts val="1744"/>
              </a:lnSpc>
              <a:buSzPct val="100000"/>
              <a:buChar char="•"/>
            </a:pPr>
            <a:r>
              <a:rPr lang="en-US" sz="1283" spc="-38" kern="0" dirty="0">
                <a:solidFill>
                  <a:srgbClr val="000000">
                    <a:alpha val="99000"/>
                  </a:srgbClr>
                </a:solidFill>
                <a:latin typeface="Inter" pitchFamily="34" charset="0"/>
                <a:ea typeface="Inter" pitchFamily="34" charset="-122"/>
                <a:cs typeface="Inter" pitchFamily="34" charset="-120"/>
              </a:rPr>
              <a:t>Refine light “breathing” when idle to invite people in</a:t>
            </a:r>
            <a:endParaRPr lang="en-US" sz="1283" dirty="0"/>
          </a:p>
          <a:p>
            <a:pPr algn="l" marL="342900" indent="-342900">
              <a:lnSpc>
                <a:spcPts val="1744"/>
              </a:lnSpc>
              <a:buSzPct val="100000"/>
              <a:buChar char="•"/>
            </a:pPr>
            <a:r>
              <a:rPr lang="en-US" sz="1283" spc="-38" kern="0" dirty="0">
                <a:solidFill>
                  <a:srgbClr val="000000">
                    <a:alpha val="99000"/>
                  </a:srgbClr>
                </a:solidFill>
                <a:latin typeface="Inter" pitchFamily="34" charset="0"/>
                <a:ea typeface="Inter" pitchFamily="34" charset="-122"/>
                <a:cs typeface="Inter" pitchFamily="34" charset="-120"/>
              </a:rPr>
              <a:t>Explore multi‑user or longer‑form versions for exhibitions</a:t>
            </a:r>
            <a:endParaRPr lang="en-US" sz="1283" dirty="0"/>
          </a:p>
          <a:p>
            <a:pPr algn="l" marL="342900" indent="-342900">
              <a:lnSpc>
                <a:spcPts val="1744"/>
              </a:lnSpc>
              <a:buSzPct val="100000"/>
              <a:buChar char="•"/>
            </a:pPr>
            <a:r>
              <a:rPr lang="en-US" sz="1283" spc="-38" kern="0" dirty="0">
                <a:solidFill>
                  <a:srgbClr val="000000">
                    <a:alpha val="99000"/>
                  </a:srgbClr>
                </a:solidFill>
                <a:latin typeface="Inter" pitchFamily="34" charset="0"/>
                <a:ea typeface="Inter" pitchFamily="34" charset="-122"/>
                <a:cs typeface="Inter" pitchFamily="34" charset="-120"/>
              </a:rPr>
              <a:t>Touch Designer</a:t>
            </a:r>
            <a:endParaRPr lang="en-US" sz="1283" dirty="0"/>
          </a:p>
        </p:txBody>
      </p:sp>
      <p:pic>
        <p:nvPicPr>
          <p:cNvPr id="5" name="Image 0" descr="preencoded.png">    </p:cNvPr>
          <p:cNvPicPr>
            <a:picLocks noChangeAspect="1"/>
          </p:cNvPicPr>
          <p:nvPr/>
        </p:nvPicPr>
        <p:blipFill>
          <a:blip r:embed="rId1"/>
          <a:srcRect l="0" r="0" t="0" b="0"/>
          <a:stretch/>
        </p:blipFill>
        <p:spPr>
          <a:xfrm>
            <a:off x="0" y="4838700"/>
            <a:ext cx="9144000" cy="304800"/>
          </a:xfrm>
          <a:prstGeom prst="rect">
            <a:avLst/>
          </a:prstGeom>
        </p:spPr>
      </p:pic>
      <p:sp>
        <p:nvSpPr>
          <p:cNvPr id="6" name="Text 3"/>
          <p:cNvSpPr/>
          <p:nvPr/>
        </p:nvSpPr>
        <p:spPr>
          <a:xfrm>
            <a:off x="628650" y="628650"/>
            <a:ext cx="4819650" cy="180975"/>
          </a:xfrm>
          <a:prstGeom prst="rect">
            <a:avLst/>
          </a:prstGeom>
          <a:noFill/>
          <a:ln/>
        </p:spPr>
        <p:txBody>
          <a:bodyPr wrap="square" lIns="0" tIns="0" rIns="0" bIns="0" rtlCol="0" anchor="t"/>
          <a:lstStyle/>
          <a:p>
            <a:pPr algn="l" indent="0" marL="0">
              <a:lnSpc>
                <a:spcPts val="1368"/>
              </a:lnSpc>
              <a:buNone/>
            </a:pPr>
            <a:r>
              <a:rPr lang="en-US" sz="1140" spc="-34" kern="0" dirty="0">
                <a:solidFill>
                  <a:srgbClr val="000000">
                    <a:alpha val="99000"/>
                  </a:srgbClr>
                </a:solidFill>
                <a:latin typeface="Inter" pitchFamily="34" charset="0"/>
                <a:ea typeface="Inter" pitchFamily="34" charset="-122"/>
                <a:cs typeface="Inter" pitchFamily="34" charset="-120"/>
              </a:rPr>
              <a:t>Takeaways</a:t>
            </a:r>
            <a:endParaRPr lang="en-US" sz="1140" dirty="0"/>
          </a:p>
        </p:txBody>
      </p:sp>
      <p:sp>
        <p:nvSpPr>
          <p:cNvPr id="7" name="Text 4"/>
          <p:cNvSpPr/>
          <p:nvPr/>
        </p:nvSpPr>
        <p:spPr>
          <a:xfrm>
            <a:off x="628650" y="981075"/>
            <a:ext cx="4819650" cy="276225"/>
          </a:xfrm>
          <a:prstGeom prst="rect">
            <a:avLst/>
          </a:prstGeom>
          <a:noFill/>
          <a:ln/>
        </p:spPr>
        <p:txBody>
          <a:bodyPr wrap="square" lIns="0" tIns="0" rIns="0" bIns="0" rtlCol="0" anchor="t"/>
          <a:lstStyle/>
          <a:p>
            <a:pPr algn="l" indent="0" marL="0">
              <a:lnSpc>
                <a:spcPts val="2052"/>
              </a:lnSpc>
              <a:buNone/>
            </a:pPr>
            <a:r>
              <a:rPr lang="en-US" sz="1710" spc="-51" kern="0" dirty="0">
                <a:solidFill>
                  <a:srgbClr val="000000">
                    <a:alpha val="99000"/>
                  </a:srgbClr>
                </a:solidFill>
                <a:latin typeface="Inter" pitchFamily="34" charset="0"/>
                <a:ea typeface="Inter" pitchFamily="34" charset="-122"/>
                <a:cs typeface="Inter" pitchFamily="34" charset="-120"/>
              </a:rPr>
              <a:t>Where I Want to Take It Next</a:t>
            </a:r>
            <a:endParaRPr lang="en-US" sz="1710" dirty="0"/>
          </a:p>
        </p:txBody>
      </p:sp>
      <p:pic>
        <p:nvPicPr>
          <p:cNvPr id="8" name="Image 1" descr="preencoded.png">    </p:cNvPr>
          <p:cNvPicPr>
            <a:picLocks noChangeAspect="1"/>
          </p:cNvPicPr>
          <p:nvPr/>
        </p:nvPicPr>
        <p:blipFill>
          <a:blip r:embed="rId2"/>
          <a:srcRect l="0" r="0" t="0" b="0"/>
          <a:stretch/>
        </p:blipFill>
        <p:spPr>
          <a:xfrm>
            <a:off x="4443413" y="1733550"/>
            <a:ext cx="4043363" cy="2624138"/>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28650" y="1671638"/>
            <a:ext cx="3481388" cy="1633538"/>
          </a:xfrm>
          <a:prstGeom prst="rect">
            <a:avLst/>
          </a:prstGeom>
          <a:noFill/>
          <a:ln/>
        </p:spPr>
      </p:sp>
      <p:sp>
        <p:nvSpPr>
          <p:cNvPr id="3" name="Shape 1"/>
          <p:cNvSpPr/>
          <p:nvPr/>
        </p:nvSpPr>
        <p:spPr>
          <a:xfrm>
            <a:off x="628650" y="1671638"/>
            <a:ext cx="3076575" cy="1633538"/>
          </a:xfrm>
          <a:prstGeom prst="rect">
            <a:avLst/>
          </a:prstGeom>
          <a:noFill/>
          <a:ln/>
        </p:spPr>
      </p:sp>
      <p:sp>
        <p:nvSpPr>
          <p:cNvPr id="4" name="Text 2"/>
          <p:cNvSpPr/>
          <p:nvPr/>
        </p:nvSpPr>
        <p:spPr>
          <a:xfrm>
            <a:off x="628650" y="1671638"/>
            <a:ext cx="3076575" cy="1633538"/>
          </a:xfrm>
          <a:prstGeom prst="rect">
            <a:avLst/>
          </a:prstGeom>
          <a:noFill/>
          <a:ln/>
        </p:spPr>
        <p:txBody>
          <a:bodyPr wrap="square" lIns="0" tIns="0" rIns="0" bIns="0" rtlCol="0" anchor="ctr"/>
          <a:lstStyle/>
          <a:p>
            <a:pPr algn="l" marL="342900" indent="-342900">
              <a:lnSpc>
                <a:spcPts val="1744"/>
              </a:lnSpc>
              <a:buSzPct val="100000"/>
              <a:buChar char="•"/>
            </a:pPr>
            <a:r>
              <a:rPr lang="en-US" sz="1283" spc="-38" kern="0" dirty="0">
                <a:solidFill>
                  <a:srgbClr val="000000">
                    <a:alpha val="99000"/>
                  </a:srgbClr>
                </a:solidFill>
                <a:latin typeface="Inter" pitchFamily="34" charset="0"/>
                <a:ea typeface="Inter" pitchFamily="34" charset="-122"/>
                <a:cs typeface="Inter" pitchFamily="34" charset="-120"/>
              </a:rPr>
              <a:t>Music can be something you perform with your body</a:t>
            </a:r>
            <a:endParaRPr lang="en-US" sz="1283" dirty="0"/>
          </a:p>
          <a:p>
            <a:pPr algn="l" marL="342900" indent="-342900">
              <a:lnSpc>
                <a:spcPts val="1744"/>
              </a:lnSpc>
              <a:buSzPct val="100000"/>
              <a:buChar char="•"/>
            </a:pPr>
            <a:r>
              <a:rPr lang="en-US" sz="1283" spc="-38" kern="0" dirty="0">
                <a:solidFill>
                  <a:srgbClr val="000000">
                    <a:alpha val="99000"/>
                  </a:srgbClr>
                </a:solidFill>
                <a:latin typeface="Inter" pitchFamily="34" charset="0"/>
                <a:ea typeface="Inter" pitchFamily="34" charset="-122"/>
                <a:cs typeface="Inter" pitchFamily="34" charset="-120"/>
              </a:rPr>
              <a:t>Simple gestures can unlock emotional, cinematic experiences</a:t>
            </a:r>
            <a:endParaRPr lang="en-US" sz="1283" dirty="0"/>
          </a:p>
          <a:p>
            <a:pPr algn="l" marL="342900" indent="-342900">
              <a:lnSpc>
                <a:spcPts val="1744"/>
              </a:lnSpc>
              <a:buSzPct val="100000"/>
              <a:buChar char="•"/>
            </a:pPr>
            <a:r>
              <a:rPr lang="en-US" sz="1283" spc="-38" kern="0" dirty="0">
                <a:solidFill>
                  <a:srgbClr val="000000">
                    <a:alpha val="99000"/>
                  </a:srgbClr>
                </a:solidFill>
                <a:latin typeface="Inter" pitchFamily="34" charset="0"/>
                <a:ea typeface="Inter" pitchFamily="34" charset="-122"/>
                <a:cs typeface="Inter" pitchFamily="34" charset="-120"/>
              </a:rPr>
              <a:t>You are part of the artwork every time you touch it</a:t>
            </a:r>
            <a:endParaRPr lang="en-US" sz="1283" dirty="0"/>
          </a:p>
        </p:txBody>
      </p:sp>
      <p:pic>
        <p:nvPicPr>
          <p:cNvPr id="5" name="Image 0" descr="preencoded.png">    </p:cNvPr>
          <p:cNvPicPr>
            <a:picLocks noChangeAspect="1"/>
          </p:cNvPicPr>
          <p:nvPr/>
        </p:nvPicPr>
        <p:blipFill>
          <a:blip r:embed="rId1"/>
          <a:srcRect l="0" r="0" t="0" b="0"/>
          <a:stretch/>
        </p:blipFill>
        <p:spPr>
          <a:xfrm>
            <a:off x="0" y="4838700"/>
            <a:ext cx="9144000" cy="304800"/>
          </a:xfrm>
          <a:prstGeom prst="rect">
            <a:avLst/>
          </a:prstGeom>
        </p:spPr>
      </p:pic>
      <p:sp>
        <p:nvSpPr>
          <p:cNvPr id="6" name="Text 3"/>
          <p:cNvSpPr/>
          <p:nvPr/>
        </p:nvSpPr>
        <p:spPr>
          <a:xfrm>
            <a:off x="628650" y="628650"/>
            <a:ext cx="4819650" cy="180975"/>
          </a:xfrm>
          <a:prstGeom prst="rect">
            <a:avLst/>
          </a:prstGeom>
          <a:noFill/>
          <a:ln/>
        </p:spPr>
        <p:txBody>
          <a:bodyPr wrap="square" lIns="0" tIns="0" rIns="0" bIns="0" rtlCol="0" anchor="t"/>
          <a:lstStyle/>
          <a:p>
            <a:pPr algn="l" indent="0" marL="0">
              <a:lnSpc>
                <a:spcPts val="1368"/>
              </a:lnSpc>
              <a:buNone/>
            </a:pPr>
            <a:r>
              <a:rPr lang="en-US" sz="1140" spc="-34" kern="0" dirty="0">
                <a:solidFill>
                  <a:srgbClr val="000000">
                    <a:alpha val="99000"/>
                  </a:srgbClr>
                </a:solidFill>
                <a:latin typeface="Inter" pitchFamily="34" charset="0"/>
                <a:ea typeface="Inter" pitchFamily="34" charset="-122"/>
                <a:cs typeface="Inter" pitchFamily="34" charset="-120"/>
              </a:rPr>
              <a:t>Takeaways</a:t>
            </a:r>
            <a:endParaRPr lang="en-US" sz="1140" dirty="0"/>
          </a:p>
        </p:txBody>
      </p:sp>
      <p:sp>
        <p:nvSpPr>
          <p:cNvPr id="7" name="Text 4"/>
          <p:cNvSpPr/>
          <p:nvPr/>
        </p:nvSpPr>
        <p:spPr>
          <a:xfrm>
            <a:off x="628650" y="981075"/>
            <a:ext cx="4819650" cy="276225"/>
          </a:xfrm>
          <a:prstGeom prst="rect">
            <a:avLst/>
          </a:prstGeom>
          <a:noFill/>
          <a:ln/>
        </p:spPr>
        <p:txBody>
          <a:bodyPr wrap="square" lIns="0" tIns="0" rIns="0" bIns="0" rtlCol="0" anchor="t"/>
          <a:lstStyle/>
          <a:p>
            <a:pPr algn="l" indent="0" marL="0">
              <a:lnSpc>
                <a:spcPts val="2052"/>
              </a:lnSpc>
              <a:buNone/>
            </a:pPr>
            <a:r>
              <a:rPr lang="en-US" sz="1710" spc="-51" kern="0" dirty="0">
                <a:solidFill>
                  <a:srgbClr val="000000">
                    <a:alpha val="99000"/>
                  </a:srgbClr>
                </a:solidFill>
                <a:latin typeface="Inter" pitchFamily="34" charset="0"/>
                <a:ea typeface="Inter" pitchFamily="34" charset="-122"/>
                <a:cs typeface="Inter" pitchFamily="34" charset="-120"/>
              </a:rPr>
              <a:t>What I Hope You Take Away</a:t>
            </a:r>
            <a:endParaRPr lang="en-US" sz="1710" dirty="0"/>
          </a:p>
        </p:txBody>
      </p:sp>
      <p:sp>
        <p:nvSpPr>
          <p:cNvPr id="8" name="Text 5"/>
          <p:cNvSpPr/>
          <p:nvPr/>
        </p:nvSpPr>
        <p:spPr>
          <a:xfrm>
            <a:off x="4786313" y="2614613"/>
            <a:ext cx="3810000" cy="1266825"/>
          </a:xfrm>
          <a:prstGeom prst="rect">
            <a:avLst/>
          </a:prstGeom>
          <a:noFill/>
          <a:ln/>
        </p:spPr>
        <p:txBody>
          <a:bodyPr wrap="square" lIns="0" tIns="0" rIns="0" bIns="0" rtlCol="0" anchor="t"/>
          <a:lstStyle/>
          <a:p>
            <a:pPr algn="l" indent="0" marL="0">
              <a:lnSpc>
                <a:spcPts val="1368"/>
              </a:lnSpc>
              <a:buNone/>
            </a:pPr>
            <a:r>
              <a:rPr lang="en-US" sz="1140" spc="-34" kern="0" dirty="0">
                <a:solidFill>
                  <a:srgbClr val="8BAFAC">
                    <a:alpha val="99000"/>
                  </a:srgbClr>
                </a:solidFill>
                <a:latin typeface="Inter" pitchFamily="34" charset="0"/>
                <a:ea typeface="Inter" pitchFamily="34" charset="-122"/>
                <a:cs typeface="Inter" pitchFamily="34" charset="-120"/>
              </a:rPr>
              <a:t>The main thing I hope people take away is that music can be something you perform through your body, not just something you listen to. A simple gesture like pressing your hand can open up a full emotional and cinematic experience. Every person who touches the sculpture changes the piece a little, and that makes the audience part of the artwork</a:t>
            </a:r>
            <a:endParaRPr lang="en-US" sz="114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343232"/>
        </a:solidFill>
      </p:bgPr>
    </p:bg>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rcRect l="0" r="0" t="0" b="0"/>
          <a:stretch/>
        </p:blipFill>
        <p:spPr>
          <a:xfrm>
            <a:off x="0" y="0"/>
            <a:ext cx="9144000" cy="5143500"/>
          </a:xfrm>
          <a:prstGeom prst="rect">
            <a:avLst/>
          </a:prstGeom>
        </p:spPr>
      </p:pic>
      <p:pic>
        <p:nvPicPr>
          <p:cNvPr id="4" name="Image 1" descr="preencoded.png">    </p:cNvPr>
          <p:cNvPicPr>
            <a:picLocks noChangeAspect="1"/>
          </p:cNvPicPr>
          <p:nvPr/>
        </p:nvPicPr>
        <p:blipFill>
          <a:blip r:embed="rId2"/>
          <a:srcRect l="0" r="0" t="0" b="0"/>
          <a:stretch/>
        </p:blipFill>
        <p:spPr>
          <a:xfrm>
            <a:off x="0" y="4838700"/>
            <a:ext cx="9144000" cy="304800"/>
          </a:xfrm>
          <a:prstGeom prst="rect">
            <a:avLst/>
          </a:prstGeom>
        </p:spPr>
      </p:pic>
      <p:sp>
        <p:nvSpPr>
          <p:cNvPr id="5" name="Shape 0"/>
          <p:cNvSpPr/>
          <p:nvPr/>
        </p:nvSpPr>
        <p:spPr>
          <a:xfrm>
            <a:off x="2162175" y="1171575"/>
            <a:ext cx="4819650" cy="2514600"/>
          </a:xfrm>
          <a:prstGeom prst="rect">
            <a:avLst/>
          </a:prstGeom>
          <a:noFill/>
          <a:ln/>
        </p:spPr>
      </p:sp>
      <p:pic>
        <p:nvPicPr>
          <p:cNvPr id="6" name="Image 2" descr="preencoded.png">    </p:cNvPr>
          <p:cNvPicPr>
            <a:picLocks noChangeAspect="1"/>
          </p:cNvPicPr>
          <p:nvPr/>
        </p:nvPicPr>
        <p:blipFill>
          <a:blip r:embed="rId3"/>
          <a:srcRect l="0" r="0" t="0" b="0"/>
          <a:stretch/>
        </p:blipFill>
        <p:spPr>
          <a:xfrm>
            <a:off x="2162175" y="1171575"/>
            <a:ext cx="4819650" cy="276225"/>
          </a:xfrm>
          <a:prstGeom prst="rect">
            <a:avLst/>
          </a:prstGeom>
        </p:spPr>
      </p:pic>
      <p:sp>
        <p:nvSpPr>
          <p:cNvPr id="7" name="Shape 1"/>
          <p:cNvSpPr/>
          <p:nvPr/>
        </p:nvSpPr>
        <p:spPr>
          <a:xfrm>
            <a:off x="2162175" y="1619250"/>
            <a:ext cx="4819650" cy="276225"/>
          </a:xfrm>
          <a:prstGeom prst="rect">
            <a:avLst/>
          </a:prstGeom>
          <a:noFill/>
          <a:ln/>
        </p:spPr>
      </p:sp>
      <p:sp>
        <p:nvSpPr>
          <p:cNvPr id="8" name="Shape 2"/>
          <p:cNvSpPr/>
          <p:nvPr/>
        </p:nvSpPr>
        <p:spPr>
          <a:xfrm>
            <a:off x="2162175" y="1619250"/>
            <a:ext cx="2324100" cy="276225"/>
          </a:xfrm>
          <a:prstGeom prst="rect">
            <a:avLst/>
          </a:prstGeom>
          <a:noFill/>
          <a:ln/>
        </p:spPr>
      </p:sp>
      <p:pic>
        <p:nvPicPr>
          <p:cNvPr id="9" name="Image 3" descr="preencoded.png">    </p:cNvPr>
          <p:cNvPicPr>
            <a:picLocks noChangeAspect="1"/>
          </p:cNvPicPr>
          <p:nvPr/>
        </p:nvPicPr>
        <p:blipFill>
          <a:blip r:embed="rId4"/>
          <a:srcRect l="0" r="0" t="0" b="0"/>
          <a:stretch/>
        </p:blipFill>
        <p:spPr>
          <a:xfrm>
            <a:off x="2162175" y="1619250"/>
            <a:ext cx="276225" cy="276225"/>
          </a:xfrm>
          <a:prstGeom prst="rect">
            <a:avLst/>
          </a:prstGeom>
        </p:spPr>
      </p:pic>
      <p:sp>
        <p:nvSpPr>
          <p:cNvPr id="10" name="Text 3"/>
          <p:cNvSpPr/>
          <p:nvPr/>
        </p:nvSpPr>
        <p:spPr>
          <a:xfrm>
            <a:off x="2552700" y="1640681"/>
            <a:ext cx="3348038" cy="233362"/>
          </a:xfrm>
          <a:prstGeom prst="rect">
            <a:avLst/>
          </a:prstGeom>
          <a:noFill/>
          <a:ln/>
        </p:spPr>
        <p:txBody>
          <a:bodyPr wrap="square" lIns="0" tIns="0" rIns="0" bIns="0" rtlCol="0" anchor="ctr"/>
          <a:lstStyle/>
          <a:p>
            <a:pPr algn="ctr" indent="0" marL="0">
              <a:lnSpc>
                <a:spcPts val="1744"/>
              </a:lnSpc>
              <a:buNone/>
            </a:pPr>
            <a:r>
              <a:rPr lang="en-US" sz="1283" spc="-38" kern="0" dirty="0">
                <a:solidFill>
                  <a:srgbClr val="F5F5F5">
                    <a:alpha val="99000"/>
                  </a:srgbClr>
                </a:solidFill>
                <a:latin typeface="Inter" pitchFamily="34" charset="0"/>
                <a:ea typeface="Inter" pitchFamily="34" charset="-122"/>
                <a:cs typeface="Inter" pitchFamily="34" charset="-120"/>
              </a:rPr>
              <a:t>Future, &amp; Drake. (2015). Diamonds Dancing </a:t>
            </a:r>
            <a:endParaRPr lang="en-US" sz="1283" dirty="0"/>
          </a:p>
        </p:txBody>
      </p:sp>
      <p:sp>
        <p:nvSpPr>
          <p:cNvPr id="11" name="Shape 4"/>
          <p:cNvSpPr/>
          <p:nvPr/>
        </p:nvSpPr>
        <p:spPr>
          <a:xfrm>
            <a:off x="4657725" y="1619250"/>
            <a:ext cx="2324100" cy="276225"/>
          </a:xfrm>
          <a:prstGeom prst="rect">
            <a:avLst/>
          </a:prstGeom>
          <a:noFill/>
          <a:ln/>
        </p:spPr>
      </p:sp>
      <p:sp>
        <p:nvSpPr>
          <p:cNvPr id="12" name="Text 5"/>
          <p:cNvSpPr/>
          <p:nvPr/>
        </p:nvSpPr>
        <p:spPr>
          <a:xfrm>
            <a:off x="6619875" y="1657350"/>
            <a:ext cx="361950" cy="200025"/>
          </a:xfrm>
          <a:prstGeom prst="rect">
            <a:avLst/>
          </a:prstGeom>
          <a:noFill/>
          <a:ln/>
        </p:spPr>
        <p:txBody>
          <a:bodyPr wrap="square" lIns="0" tIns="0" rIns="0" bIns="0" rtlCol="0" anchor="ctr"/>
          <a:lstStyle/>
          <a:p>
            <a:pPr algn="ctr" indent="0" marL="0">
              <a:lnSpc>
                <a:spcPts val="1482"/>
              </a:lnSpc>
              <a:buNone/>
            </a:pPr>
            <a:r>
              <a:rPr lang="en-US" sz="1140" spc="-34" kern="0" dirty="0">
                <a:solidFill>
                  <a:srgbClr val="F5F5F5">
                    <a:alpha val="99000"/>
                  </a:srgbClr>
                </a:solidFill>
                <a:latin typeface="Inter" pitchFamily="34" charset="0"/>
                <a:ea typeface="Inter" pitchFamily="34" charset="-122"/>
                <a:cs typeface="Inter" pitchFamily="34" charset="-120"/>
              </a:rPr>
              <a:t>Song</a:t>
            </a:r>
            <a:endParaRPr lang="en-US" sz="1140" dirty="0"/>
          </a:p>
        </p:txBody>
      </p:sp>
      <p:sp>
        <p:nvSpPr>
          <p:cNvPr id="13" name="Shape 6"/>
          <p:cNvSpPr/>
          <p:nvPr/>
        </p:nvSpPr>
        <p:spPr>
          <a:xfrm>
            <a:off x="2162175" y="2066925"/>
            <a:ext cx="4819650" cy="276225"/>
          </a:xfrm>
          <a:prstGeom prst="rect">
            <a:avLst/>
          </a:prstGeom>
          <a:noFill/>
          <a:ln/>
        </p:spPr>
      </p:sp>
      <p:sp>
        <p:nvSpPr>
          <p:cNvPr id="14" name="Shape 7"/>
          <p:cNvSpPr/>
          <p:nvPr/>
        </p:nvSpPr>
        <p:spPr>
          <a:xfrm>
            <a:off x="2162175" y="2066925"/>
            <a:ext cx="2324100" cy="276225"/>
          </a:xfrm>
          <a:prstGeom prst="rect">
            <a:avLst/>
          </a:prstGeom>
          <a:noFill/>
          <a:ln/>
        </p:spPr>
      </p:sp>
      <p:pic>
        <p:nvPicPr>
          <p:cNvPr id="15" name="Image 4" descr="preencoded.png">    </p:cNvPr>
          <p:cNvPicPr>
            <a:picLocks noChangeAspect="1"/>
          </p:cNvPicPr>
          <p:nvPr/>
        </p:nvPicPr>
        <p:blipFill>
          <a:blip r:embed="rId5"/>
          <a:srcRect l="0" r="0" t="0" b="0"/>
          <a:stretch/>
        </p:blipFill>
        <p:spPr>
          <a:xfrm>
            <a:off x="2162175" y="2066925"/>
            <a:ext cx="276225" cy="276225"/>
          </a:xfrm>
          <a:prstGeom prst="rect">
            <a:avLst/>
          </a:prstGeom>
        </p:spPr>
      </p:pic>
      <p:sp>
        <p:nvSpPr>
          <p:cNvPr id="16" name="Text 8"/>
          <p:cNvSpPr/>
          <p:nvPr/>
        </p:nvSpPr>
        <p:spPr>
          <a:xfrm>
            <a:off x="2552700" y="2088356"/>
            <a:ext cx="2476500" cy="233362"/>
          </a:xfrm>
          <a:prstGeom prst="rect">
            <a:avLst/>
          </a:prstGeom>
          <a:noFill/>
          <a:ln/>
        </p:spPr>
        <p:txBody>
          <a:bodyPr wrap="square" lIns="0" tIns="0" rIns="0" bIns="0" rtlCol="0" anchor="ctr"/>
          <a:lstStyle/>
          <a:p>
            <a:pPr algn="ctr" indent="0" marL="0">
              <a:lnSpc>
                <a:spcPts val="1744"/>
              </a:lnSpc>
              <a:buNone/>
            </a:pPr>
            <a:r>
              <a:rPr lang="en-US" sz="1283" spc="-38" kern="0" dirty="0">
                <a:solidFill>
                  <a:srgbClr val="F5F5F5">
                    <a:alpha val="99000"/>
                  </a:srgbClr>
                </a:solidFill>
                <a:latin typeface="Inter" pitchFamily="34" charset="0"/>
                <a:ea typeface="Inter" pitchFamily="34" charset="-122"/>
                <a:cs typeface="Inter" pitchFamily="34" charset="-120"/>
              </a:rPr>
              <a:t>The Weeknd. (2024). São Paulo  </a:t>
            </a:r>
            <a:endParaRPr lang="en-US" sz="1283" dirty="0"/>
          </a:p>
        </p:txBody>
      </p:sp>
      <p:sp>
        <p:nvSpPr>
          <p:cNvPr id="17" name="Shape 9"/>
          <p:cNvSpPr/>
          <p:nvPr/>
        </p:nvSpPr>
        <p:spPr>
          <a:xfrm>
            <a:off x="4657725" y="2066925"/>
            <a:ext cx="2324100" cy="276225"/>
          </a:xfrm>
          <a:prstGeom prst="rect">
            <a:avLst/>
          </a:prstGeom>
          <a:noFill/>
          <a:ln/>
        </p:spPr>
      </p:sp>
      <p:sp>
        <p:nvSpPr>
          <p:cNvPr id="18" name="Text 10"/>
          <p:cNvSpPr/>
          <p:nvPr/>
        </p:nvSpPr>
        <p:spPr>
          <a:xfrm>
            <a:off x="6619875" y="2105025"/>
            <a:ext cx="361950" cy="200025"/>
          </a:xfrm>
          <a:prstGeom prst="rect">
            <a:avLst/>
          </a:prstGeom>
          <a:noFill/>
          <a:ln/>
        </p:spPr>
        <p:txBody>
          <a:bodyPr wrap="square" lIns="0" tIns="0" rIns="0" bIns="0" rtlCol="0" anchor="ctr"/>
          <a:lstStyle/>
          <a:p>
            <a:pPr algn="ctr" indent="0" marL="0">
              <a:lnSpc>
                <a:spcPts val="1482"/>
              </a:lnSpc>
              <a:buNone/>
            </a:pPr>
            <a:r>
              <a:rPr lang="en-US" sz="1140" spc="-34" kern="0" dirty="0">
                <a:solidFill>
                  <a:srgbClr val="F5F5F5">
                    <a:alpha val="99000"/>
                  </a:srgbClr>
                </a:solidFill>
                <a:latin typeface="Inter" pitchFamily="34" charset="0"/>
                <a:ea typeface="Inter" pitchFamily="34" charset="-122"/>
                <a:cs typeface="Inter" pitchFamily="34" charset="-120"/>
              </a:rPr>
              <a:t>Song</a:t>
            </a:r>
            <a:endParaRPr lang="en-US" sz="1140" dirty="0"/>
          </a:p>
        </p:txBody>
      </p:sp>
      <p:sp>
        <p:nvSpPr>
          <p:cNvPr id="19" name="Shape 11"/>
          <p:cNvSpPr/>
          <p:nvPr/>
        </p:nvSpPr>
        <p:spPr>
          <a:xfrm>
            <a:off x="2162175" y="2514600"/>
            <a:ext cx="4819650" cy="276225"/>
          </a:xfrm>
          <a:prstGeom prst="rect">
            <a:avLst/>
          </a:prstGeom>
          <a:noFill/>
          <a:ln/>
        </p:spPr>
      </p:sp>
      <p:sp>
        <p:nvSpPr>
          <p:cNvPr id="20" name="Shape 12"/>
          <p:cNvSpPr/>
          <p:nvPr/>
        </p:nvSpPr>
        <p:spPr>
          <a:xfrm>
            <a:off x="2162175" y="2514600"/>
            <a:ext cx="2324100" cy="276225"/>
          </a:xfrm>
          <a:prstGeom prst="rect">
            <a:avLst/>
          </a:prstGeom>
          <a:noFill/>
          <a:ln/>
        </p:spPr>
      </p:sp>
      <p:pic>
        <p:nvPicPr>
          <p:cNvPr id="21" name="Image 5" descr="preencoded.png">    </p:cNvPr>
          <p:cNvPicPr>
            <a:picLocks noChangeAspect="1"/>
          </p:cNvPicPr>
          <p:nvPr/>
        </p:nvPicPr>
        <p:blipFill>
          <a:blip r:embed="rId6"/>
          <a:srcRect l="0" r="0" t="0" b="0"/>
          <a:stretch/>
        </p:blipFill>
        <p:spPr>
          <a:xfrm>
            <a:off x="2162175" y="2514600"/>
            <a:ext cx="276225" cy="276225"/>
          </a:xfrm>
          <a:prstGeom prst="rect">
            <a:avLst/>
          </a:prstGeom>
        </p:spPr>
      </p:pic>
      <p:sp>
        <p:nvSpPr>
          <p:cNvPr id="22" name="Text 13"/>
          <p:cNvSpPr/>
          <p:nvPr/>
        </p:nvSpPr>
        <p:spPr>
          <a:xfrm>
            <a:off x="2552700" y="2536031"/>
            <a:ext cx="2138363" cy="233362"/>
          </a:xfrm>
          <a:prstGeom prst="rect">
            <a:avLst/>
          </a:prstGeom>
          <a:noFill/>
          <a:ln/>
        </p:spPr>
        <p:txBody>
          <a:bodyPr wrap="square" lIns="0" tIns="0" rIns="0" bIns="0" rtlCol="0" anchor="ctr"/>
          <a:lstStyle/>
          <a:p>
            <a:pPr algn="ctr" indent="0" marL="0">
              <a:lnSpc>
                <a:spcPts val="1744"/>
              </a:lnSpc>
              <a:buNone/>
            </a:pPr>
            <a:r>
              <a:rPr lang="en-US" sz="1283" spc="-38" kern="0" dirty="0">
                <a:solidFill>
                  <a:srgbClr val="F5F5F5">
                    <a:alpha val="99000"/>
                  </a:srgbClr>
                </a:solidFill>
                <a:latin typeface="Inter" pitchFamily="34" charset="0"/>
                <a:ea typeface="Inter" pitchFamily="34" charset="-122"/>
                <a:cs typeface="Inter" pitchFamily="34" charset="-120"/>
              </a:rPr>
              <a:t>p5.js. (n.d.). p5.js Reference</a:t>
            </a:r>
            <a:endParaRPr lang="en-US" sz="1283" dirty="0"/>
          </a:p>
        </p:txBody>
      </p:sp>
      <p:sp>
        <p:nvSpPr>
          <p:cNvPr id="23" name="Shape 14"/>
          <p:cNvSpPr/>
          <p:nvPr/>
        </p:nvSpPr>
        <p:spPr>
          <a:xfrm>
            <a:off x="4657725" y="2514600"/>
            <a:ext cx="2324100" cy="276225"/>
          </a:xfrm>
          <a:prstGeom prst="rect">
            <a:avLst/>
          </a:prstGeom>
          <a:noFill/>
          <a:ln/>
        </p:spPr>
      </p:sp>
      <p:sp>
        <p:nvSpPr>
          <p:cNvPr id="24" name="Text 15"/>
          <p:cNvSpPr/>
          <p:nvPr/>
        </p:nvSpPr>
        <p:spPr>
          <a:xfrm>
            <a:off x="5200650" y="2552700"/>
            <a:ext cx="1781175" cy="200025"/>
          </a:xfrm>
          <a:prstGeom prst="rect">
            <a:avLst/>
          </a:prstGeom>
          <a:noFill/>
          <a:ln/>
        </p:spPr>
        <p:txBody>
          <a:bodyPr wrap="square" lIns="0" tIns="0" rIns="0" bIns="0" rtlCol="0" anchor="ctr"/>
          <a:lstStyle/>
          <a:p>
            <a:pPr algn="ctr" indent="0" marL="0">
              <a:lnSpc>
                <a:spcPts val="1482"/>
              </a:lnSpc>
              <a:buNone/>
            </a:pPr>
            <a:r>
              <a:rPr lang="en-US" sz="1140" spc="-34" kern="0" dirty="0">
                <a:solidFill>
                  <a:srgbClr val="F5F5F5">
                    <a:alpha val="99000"/>
                  </a:srgbClr>
                </a:solidFill>
                <a:latin typeface="Inter" pitchFamily="34" charset="0"/>
                <a:ea typeface="Inter" pitchFamily="34" charset="-122"/>
                <a:cs typeface="Inter" pitchFamily="34" charset="-120"/>
              </a:rPr>
              <a:t>Neeti Creative Computing</a:t>
            </a:r>
            <a:endParaRPr lang="en-US" sz="1140" dirty="0"/>
          </a:p>
        </p:txBody>
      </p:sp>
      <p:sp>
        <p:nvSpPr>
          <p:cNvPr id="25" name="Shape 16"/>
          <p:cNvSpPr/>
          <p:nvPr/>
        </p:nvSpPr>
        <p:spPr>
          <a:xfrm>
            <a:off x="2162175" y="2962275"/>
            <a:ext cx="4819650" cy="276225"/>
          </a:xfrm>
          <a:prstGeom prst="rect">
            <a:avLst/>
          </a:prstGeom>
          <a:noFill/>
          <a:ln/>
        </p:spPr>
      </p:sp>
      <p:sp>
        <p:nvSpPr>
          <p:cNvPr id="26" name="Shape 17"/>
          <p:cNvSpPr/>
          <p:nvPr/>
        </p:nvSpPr>
        <p:spPr>
          <a:xfrm>
            <a:off x="2162175" y="2962275"/>
            <a:ext cx="3538538" cy="276225"/>
          </a:xfrm>
          <a:prstGeom prst="rect">
            <a:avLst/>
          </a:prstGeom>
          <a:noFill/>
          <a:ln/>
        </p:spPr>
      </p:sp>
      <p:pic>
        <p:nvPicPr>
          <p:cNvPr id="27" name="Image 6" descr="preencoded.png">    </p:cNvPr>
          <p:cNvPicPr>
            <a:picLocks noChangeAspect="1"/>
          </p:cNvPicPr>
          <p:nvPr/>
        </p:nvPicPr>
        <p:blipFill>
          <a:blip r:embed="rId7"/>
          <a:srcRect l="0" r="0" t="0" b="0"/>
          <a:stretch/>
        </p:blipFill>
        <p:spPr>
          <a:xfrm>
            <a:off x="2162175" y="2962275"/>
            <a:ext cx="276225" cy="276225"/>
          </a:xfrm>
          <a:prstGeom prst="rect">
            <a:avLst/>
          </a:prstGeom>
        </p:spPr>
      </p:pic>
      <p:sp>
        <p:nvSpPr>
          <p:cNvPr id="28" name="Text 18"/>
          <p:cNvSpPr/>
          <p:nvPr/>
        </p:nvSpPr>
        <p:spPr>
          <a:xfrm>
            <a:off x="2552700" y="2983706"/>
            <a:ext cx="4033837" cy="233362"/>
          </a:xfrm>
          <a:prstGeom prst="rect">
            <a:avLst/>
          </a:prstGeom>
          <a:noFill/>
          <a:ln/>
        </p:spPr>
        <p:txBody>
          <a:bodyPr wrap="square" lIns="0" tIns="0" rIns="0" bIns="0" rtlCol="0" anchor="ctr"/>
          <a:lstStyle/>
          <a:p>
            <a:pPr algn="ctr" indent="0" marL="0">
              <a:lnSpc>
                <a:spcPts val="1744"/>
              </a:lnSpc>
              <a:buNone/>
            </a:pPr>
            <a:r>
              <a:rPr lang="en-US" sz="1283" spc="-38" kern="0" dirty="0">
                <a:solidFill>
                  <a:srgbClr val="F5F5F5">
                    <a:alpha val="99000"/>
                  </a:srgbClr>
                </a:solidFill>
                <a:latin typeface="Inter" pitchFamily="34" charset="0"/>
                <a:ea typeface="Inter" pitchFamily="34" charset="-122"/>
                <a:cs typeface="Inter" pitchFamily="34" charset="-120"/>
              </a:rPr>
              <a:t>Web Serial API. (n.d.). Web Serial API documentation</a:t>
            </a:r>
            <a:endParaRPr lang="en-US" sz="1283" dirty="0"/>
          </a:p>
        </p:txBody>
      </p:sp>
      <p:sp>
        <p:nvSpPr>
          <p:cNvPr id="29" name="Shape 19"/>
          <p:cNvSpPr/>
          <p:nvPr/>
        </p:nvSpPr>
        <p:spPr>
          <a:xfrm>
            <a:off x="5872163" y="2962275"/>
            <a:ext cx="1109663" cy="276225"/>
          </a:xfrm>
          <a:prstGeom prst="rect">
            <a:avLst/>
          </a:prstGeom>
          <a:noFill/>
          <a:ln/>
        </p:spPr>
      </p:sp>
      <p:sp>
        <p:nvSpPr>
          <p:cNvPr id="30" name="Text 20"/>
          <p:cNvSpPr/>
          <p:nvPr/>
        </p:nvSpPr>
        <p:spPr>
          <a:xfrm>
            <a:off x="6553200" y="3000375"/>
            <a:ext cx="428625" cy="200025"/>
          </a:xfrm>
          <a:prstGeom prst="rect">
            <a:avLst/>
          </a:prstGeom>
          <a:noFill/>
          <a:ln/>
        </p:spPr>
        <p:txBody>
          <a:bodyPr wrap="square" lIns="0" tIns="0" rIns="0" bIns="0" rtlCol="0" anchor="ctr"/>
          <a:lstStyle/>
          <a:p>
            <a:pPr algn="ctr" indent="0" marL="0">
              <a:lnSpc>
                <a:spcPts val="1482"/>
              </a:lnSpc>
              <a:buNone/>
            </a:pPr>
            <a:r>
              <a:rPr lang="en-US" sz="1140" spc="-34" kern="0" dirty="0">
                <a:solidFill>
                  <a:srgbClr val="F5F5F5">
                    <a:alpha val="99000"/>
                  </a:srgbClr>
                </a:solidFill>
                <a:latin typeface="Inter" pitchFamily="34" charset="0"/>
                <a:ea typeface="Inter" pitchFamily="34" charset="-122"/>
                <a:cs typeface="Inter" pitchFamily="34" charset="-120"/>
              </a:rPr>
              <a:t>Dan O</a:t>
            </a:r>
            <a:endParaRPr lang="en-US" sz="1140" dirty="0"/>
          </a:p>
        </p:txBody>
      </p:sp>
      <p:sp>
        <p:nvSpPr>
          <p:cNvPr id="31" name="Shape 21"/>
          <p:cNvSpPr/>
          <p:nvPr/>
        </p:nvSpPr>
        <p:spPr>
          <a:xfrm>
            <a:off x="2162175" y="3409950"/>
            <a:ext cx="4819650" cy="276225"/>
          </a:xfrm>
          <a:prstGeom prst="rect">
            <a:avLst/>
          </a:prstGeom>
          <a:noFill/>
          <a:ln/>
        </p:spPr>
      </p:sp>
      <p:sp>
        <p:nvSpPr>
          <p:cNvPr id="32" name="Shape 22"/>
          <p:cNvSpPr/>
          <p:nvPr/>
        </p:nvSpPr>
        <p:spPr>
          <a:xfrm>
            <a:off x="2162175" y="3409950"/>
            <a:ext cx="2324100" cy="276225"/>
          </a:xfrm>
          <a:prstGeom prst="rect">
            <a:avLst/>
          </a:prstGeom>
          <a:noFill/>
          <a:ln/>
        </p:spPr>
      </p:sp>
      <p:pic>
        <p:nvPicPr>
          <p:cNvPr id="33" name="Image 7" descr="preencoded.png">    </p:cNvPr>
          <p:cNvPicPr>
            <a:picLocks noChangeAspect="1"/>
          </p:cNvPicPr>
          <p:nvPr/>
        </p:nvPicPr>
        <p:blipFill>
          <a:blip r:embed="rId8"/>
          <a:srcRect l="0" r="0" t="0" b="0"/>
          <a:stretch/>
        </p:blipFill>
        <p:spPr>
          <a:xfrm>
            <a:off x="2162175" y="3409950"/>
            <a:ext cx="276225" cy="276225"/>
          </a:xfrm>
          <a:prstGeom prst="rect">
            <a:avLst/>
          </a:prstGeom>
        </p:spPr>
      </p:pic>
      <p:sp>
        <p:nvSpPr>
          <p:cNvPr id="34" name="Text 23"/>
          <p:cNvSpPr/>
          <p:nvPr/>
        </p:nvSpPr>
        <p:spPr>
          <a:xfrm>
            <a:off x="2552700" y="3431381"/>
            <a:ext cx="709613" cy="233362"/>
          </a:xfrm>
          <a:prstGeom prst="rect">
            <a:avLst/>
          </a:prstGeom>
          <a:noFill/>
          <a:ln/>
        </p:spPr>
        <p:txBody>
          <a:bodyPr wrap="square" lIns="0" tIns="0" rIns="0" bIns="0" rtlCol="0" anchor="ctr"/>
          <a:lstStyle/>
          <a:p>
            <a:pPr algn="ctr" indent="0" marL="0">
              <a:lnSpc>
                <a:spcPts val="1744"/>
              </a:lnSpc>
              <a:buNone/>
            </a:pPr>
            <a:r>
              <a:rPr lang="en-US" sz="1283" spc="-38" kern="0" dirty="0">
                <a:solidFill>
                  <a:srgbClr val="F5F5F5">
                    <a:alpha val="99000"/>
                  </a:srgbClr>
                </a:solidFill>
                <a:latin typeface="Inter" pitchFamily="34" charset="0"/>
                <a:ea typeface="Inter" pitchFamily="34" charset="-122"/>
                <a:cs typeface="Inter" pitchFamily="34" charset="-120"/>
              </a:rPr>
              <a:t>ChatGPT</a:t>
            </a:r>
            <a:endParaRPr lang="en-US" sz="1283" dirty="0"/>
          </a:p>
        </p:txBody>
      </p:sp>
      <p:sp>
        <p:nvSpPr>
          <p:cNvPr id="35" name="Shape 24"/>
          <p:cNvSpPr/>
          <p:nvPr/>
        </p:nvSpPr>
        <p:spPr>
          <a:xfrm>
            <a:off x="4657725" y="3409950"/>
            <a:ext cx="2324100" cy="276225"/>
          </a:xfrm>
          <a:prstGeom prst="rect">
            <a:avLst/>
          </a:prstGeom>
          <a:noFill/>
          <a:ln/>
        </p:spPr>
      </p:sp>
      <p:sp>
        <p:nvSpPr>
          <p:cNvPr id="36" name="Text 25"/>
          <p:cNvSpPr/>
          <p:nvPr/>
        </p:nvSpPr>
        <p:spPr>
          <a:xfrm>
            <a:off x="5381625" y="3448050"/>
            <a:ext cx="1600200" cy="200025"/>
          </a:xfrm>
          <a:prstGeom prst="rect">
            <a:avLst/>
          </a:prstGeom>
          <a:noFill/>
          <a:ln/>
        </p:spPr>
        <p:txBody>
          <a:bodyPr wrap="square" lIns="0" tIns="0" rIns="0" bIns="0" rtlCol="0" anchor="ctr"/>
          <a:lstStyle/>
          <a:p>
            <a:pPr algn="ctr" indent="0" marL="0">
              <a:lnSpc>
                <a:spcPts val="1482"/>
              </a:lnSpc>
              <a:buNone/>
            </a:pPr>
            <a:r>
              <a:rPr lang="en-US" sz="1140" spc="-34" kern="0" dirty="0">
                <a:solidFill>
                  <a:srgbClr val="F5F5F5">
                    <a:alpha val="99000"/>
                  </a:srgbClr>
                </a:solidFill>
                <a:latin typeface="Inter" pitchFamily="34" charset="0"/>
                <a:ea typeface="Inter" pitchFamily="34" charset="-122"/>
                <a:cs typeface="Inter" pitchFamily="34" charset="-120"/>
              </a:rPr>
              <a:t>Debugging and Testing</a:t>
            </a:r>
            <a:endParaRPr lang="en-US" sz="114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2026-05-08T15:31:23Z</dcterms:created>
  <dcterms:modified xsi:type="dcterms:W3CDTF">2026-05-08T15:31:23Z</dcterms:modified>
</cp:coreProperties>
</file>